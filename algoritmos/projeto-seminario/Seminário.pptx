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embeddedFontLst>
    <p:embeddedFont>
      <p:font typeface="Inter"/>
      <p:regular r:id="rId44"/>
      <p:bold r:id="rId45"/>
      <p:italic r:id="rId46"/>
      <p:boldItalic r:id="rId47"/>
    </p:embeddedFont>
    <p:embeddedFont>
      <p:font typeface="Urbanist Medium"/>
      <p:regular r:id="rId48"/>
      <p:bold r:id="rId49"/>
      <p:italic r:id="rId50"/>
      <p:boldItalic r:id="rId51"/>
    </p:embeddedFont>
    <p:embeddedFont>
      <p:font typeface="Urbanist SemiBold"/>
      <p:regular r:id="rId52"/>
      <p:bold r:id="rId53"/>
      <p:italic r:id="rId54"/>
      <p:boldItalic r:id="rId55"/>
    </p:embeddedFont>
    <p:embeddedFont>
      <p:font typeface="Urbanis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font" Target="fonts/Inter-regular.fntdata"/><Relationship Id="rId43" Type="http://schemas.openxmlformats.org/officeDocument/2006/relationships/slide" Target="slides/slide38.xml"/><Relationship Id="rId46" Type="http://schemas.openxmlformats.org/officeDocument/2006/relationships/font" Target="fonts/Inter-italic.fntdata"/><Relationship Id="rId45" Type="http://schemas.openxmlformats.org/officeDocument/2006/relationships/font" Target="fonts/Inter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UrbanistMedium-regular.fntdata"/><Relationship Id="rId47" Type="http://schemas.openxmlformats.org/officeDocument/2006/relationships/font" Target="fonts/Inter-boldItalic.fntdata"/><Relationship Id="rId49" Type="http://schemas.openxmlformats.org/officeDocument/2006/relationships/font" Target="fonts/UrbanistMedium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UrbanistMedium-boldItalic.fntdata"/><Relationship Id="rId50" Type="http://schemas.openxmlformats.org/officeDocument/2006/relationships/font" Target="fonts/UrbanistMedium-italic.fntdata"/><Relationship Id="rId53" Type="http://schemas.openxmlformats.org/officeDocument/2006/relationships/font" Target="fonts/UrbanistSemiBold-bold.fntdata"/><Relationship Id="rId52" Type="http://schemas.openxmlformats.org/officeDocument/2006/relationships/font" Target="fonts/UrbanistSemiBold-regular.fntdata"/><Relationship Id="rId11" Type="http://schemas.openxmlformats.org/officeDocument/2006/relationships/slide" Target="slides/slide6.xml"/><Relationship Id="rId55" Type="http://schemas.openxmlformats.org/officeDocument/2006/relationships/font" Target="fonts/UrbanistSemiBold-boldItalic.fntdata"/><Relationship Id="rId10" Type="http://schemas.openxmlformats.org/officeDocument/2006/relationships/slide" Target="slides/slide5.xml"/><Relationship Id="rId54" Type="http://schemas.openxmlformats.org/officeDocument/2006/relationships/font" Target="fonts/UrbanistSemiBold-italic.fntdata"/><Relationship Id="rId13" Type="http://schemas.openxmlformats.org/officeDocument/2006/relationships/slide" Target="slides/slide8.xml"/><Relationship Id="rId57" Type="http://schemas.openxmlformats.org/officeDocument/2006/relationships/font" Target="fonts/Urbanist-bold.fntdata"/><Relationship Id="rId12" Type="http://schemas.openxmlformats.org/officeDocument/2006/relationships/slide" Target="slides/slide7.xml"/><Relationship Id="rId56" Type="http://schemas.openxmlformats.org/officeDocument/2006/relationships/font" Target="fonts/Urbanist-regular.fntdata"/><Relationship Id="rId15" Type="http://schemas.openxmlformats.org/officeDocument/2006/relationships/slide" Target="slides/slide10.xml"/><Relationship Id="rId59" Type="http://schemas.openxmlformats.org/officeDocument/2006/relationships/font" Target="fonts/Urbanist-boldItalic.fntdata"/><Relationship Id="rId14" Type="http://schemas.openxmlformats.org/officeDocument/2006/relationships/slide" Target="slides/slide9.xml"/><Relationship Id="rId58" Type="http://schemas.openxmlformats.org/officeDocument/2006/relationships/font" Target="fonts/Urbanist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67c0d1695_0_1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67c0d1695_0_1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967c0d1695_0_1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967c0d1695_0_1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67c0d1695_0_1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67c0d1695_0_1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967c0d1695_0_15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967c0d1695_0_15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967c0d1695_0_1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967c0d1695_0_1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967c0d1695_0_1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967c0d1695_0_1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967c0d1695_0_1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967c0d1695_0_1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d40696531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d40696531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d446b5c5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d446b5c5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d48c7926cb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d48c7926cb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d409d628e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d409d628e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d40696531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d40696531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d4069653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3d4069653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d50c418574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d50c418574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d40696531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3d40696531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871102514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871102514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d42c643f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3d42c643f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d439679f2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d439679f2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d439679f26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d439679f26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d50c41857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d50c41857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d5660491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d5660491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d50c41857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d50c41857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d57e6231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d57e6231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d48c7926cb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d48c7926cb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8b63344ac8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8b63344ac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d48c7926c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d48c7926c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3d48c7926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3d48c7926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d48c7926cb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3d48c7926cb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d48c7926c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3d48c7926c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d57e62317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3d57e62317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d5c51044c5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d5c51044c5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d5c51044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d5c51044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d65db71fd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" name="Google Shape;689;g3d65db71f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3d5e56e53f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3d5e56e53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d5e56e53f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" name="Google Shape;713;g3d5e56e53f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3d5e56e53f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3d5e56e53f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d48c7926c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d48c7926c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3967c0d1695_0_1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3967c0d1695_0_1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" name="Google Shape;20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" name="Google Shape;21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2" name="Google Shape;32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" name="Google Shape;39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1" name="Google Shape;41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" name="Google Shape;44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5" name="Google Shape;45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6" name="Google Shape;46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3" name="Google Shape;53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6" name="Google Shape;56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8" name="Google Shape;58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" name="Google Shape;61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4" name="Google Shape;64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68" name="Google Shape;68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9" name="Google Shape;69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0" name="Google Shape;70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1" name="Google Shape;71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" name="Google Shape;73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4" name="Google Shape;74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9" name="Google Shape;79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0" name="Google Shape;80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1" name="Google Shape;81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3" name="Google Shape;83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8" name="Google Shape;88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8" name="Google Shape;98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9" name="Google Shape;99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" name="Google Shape;102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3" name="Google Shape;103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4" name="Google Shape;104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7" name="Google Shape;107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8" name="Google Shape;108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0" name="Google Shape;110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1" name="Google Shape;111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2" name="Google Shape;112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4" name="Google Shape;114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" name="Google Shape;115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7" name="Google Shape;117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8" name="Google Shape;118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19" name="Google Shape;119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Google Shape;120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25" name="Google Shape;125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9" name="Google Shape;129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36" name="Google Shape;136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8" name="Google Shape;138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9" name="Google Shape;139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0" name="Google Shape;140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1" name="Google Shape;141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" name="Google Shape;142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5" name="Google Shape;145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6" name="Google Shape;146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" name="Google Shape;147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8" name="Google Shape;148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9" name="Google Shape;149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0" name="Google Shape;150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" name="Google Shape;151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3" name="Google Shape;153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4" name="Google Shape;154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" name="Google Shape;155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57" name="Google Shape;157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61" name="Google Shape;16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2" name="Google Shape;16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3" name="Google Shape;16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4" name="Google Shape;16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5" name="Google Shape;16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6" name="Google Shape;16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67" name="Google Shape;16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9" name="Google Shape;16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" name="Google Shape;17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74" name="Google Shape;174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75" name="Google Shape;175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80" name="Google Shape;180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7" name="Google Shape;187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8" name="Google Shape;188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4" name="Google Shape;194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5" name="Google Shape;195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6" name="Google Shape;196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97" name="Google Shape;197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8" name="Google Shape;198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9" name="Google Shape;199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0" name="Google Shape;200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04" name="Google Shape;204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5" name="Google Shape;205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7" name="Google Shape;207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Google Shape;208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9" name="Google Shape;209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0" name="Google Shape;210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1" name="Google Shape;211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2" name="Google Shape;212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3" name="Google Shape;213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4" name="Google Shape;214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5" name="Google Shape;215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7" name="Google Shape;217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6" name="Google Shape;226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7" name="Google Shape;227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8" name="Google Shape;228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9" name="Google Shape;229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0" name="Google Shape;230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1" name="Google Shape;231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2" name="Google Shape;232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3" name="Google Shape;233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9" name="Google Shape;239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2" name="Google Shape;242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6" name="Google Shape;246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7" name="Google Shape;247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9" name="Google Shape;249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50" name="Google Shape;250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1" name="Google Shape;251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2" name="Google Shape;252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5" name="Google Shape;255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6" name="Google Shape;256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0" name="Google Shape;260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1" name="Google Shape;261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2" name="Google Shape;262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3" name="Google Shape;263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7" name="Google Shape;267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9" name="Google Shape;269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0" name="Google Shape;270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1" name="Google Shape;271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72" name="Google Shape;272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3" name="Google Shape;273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5" name="Google Shape;275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76" name="Google Shape;276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9" name="Google Shape;279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0" name="Google Shape;280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1" name="Google Shape;281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3" name="Google Shape;283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6" name="Google Shape;286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90" name="Google Shape;290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1" name="Google Shape;291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92" name="Google Shape;292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3" name="Google Shape;293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4" name="Google Shape;294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5" name="Google Shape;295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8" name="Google Shape;298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0" name="Google Shape;300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2" name="Google Shape;302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3" name="Google Shape;303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4" name="Google Shape;304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6" name="Google Shape;306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7" name="Google Shape;307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8" name="Google Shape;308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09" name="Google Shape;309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0" name="Google Shape;310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2" name="Google Shape;312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4" name="Google Shape;314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8" name="Google Shape;318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9" name="Google Shape;319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20" name="Google Shape;320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1" name="Google Shape;321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4" name="Google Shape;324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5" name="Google Shape;325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6" name="Google Shape;326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7" name="Google Shape;327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28" name="Google Shape;328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9" name="Google Shape;329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1" name="Google Shape;331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2" name="Google Shape;332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5" name="Google Shape;335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0" name="Google Shape;34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3" name="Google Shape;343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4" name="Google Shape;344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9" name="Google Shape;349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4" name="Google Shape;354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5" name="Google Shape;355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0" name="Google Shape;360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4" name="Google Shape;36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5" name="Google Shape;36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2" name="Google Shape;372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3" name="Google Shape;373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7" name="Google Shape;377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8" name="Google Shape;378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9" name="Google Shape;379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3" name="Google Shape;383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5" name="Google Shape;385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3" name="Google Shape;393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0" name="Google Shape;400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3" name="Google Shape;40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6" name="Google Shape;40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7" name="Google Shape;40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8" name="Google Shape;40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1" name="Google Shape;411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4" name="Google Shape;414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0" name="Google Shape;430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2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hyperlink" Target="https://xbsoftware.com/wp-content/uploads/2023/09/A-Conceptual-illustration-of-bit-vs-qubit-The-state-of-a-qubit-can-be-represented-by-a.png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hyperlink" Target="https://quantum.cloud.ibm.com/composer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hyperlink" Target="https://arxiv.org/abs/1306.2164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arxiv.org/abs/1306.2164" TargetMode="External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hyperlink" Target="https://tensornetwork.org/tensor_networks.pn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hyperlink" Target="https://docs.nvidia.com/cuda/cuquantum/23.06.0/cutensornet/overview.html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hyperlink" Target="https://doi.org/10.1145/3547334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hyperlink" Target="https://arxiv.org/abs/2007.14822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hyperlink" Target="https://docs.nvidia.com/cuda/cuquantum/23.06.0/cutensornet/overview.html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hyperlink" Target="https://arxiv.org/abs/2007.14822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excalidraw.com/" TargetMode="External"/><Relationship Id="rId4" Type="http://schemas.openxmlformats.org/officeDocument/2006/relationships/hyperlink" Target="https://www.overleaf.com/" TargetMode="External"/><Relationship Id="rId9" Type="http://schemas.openxmlformats.org/officeDocument/2006/relationships/image" Target="../media/image20.png"/><Relationship Id="rId5" Type="http://schemas.openxmlformats.org/officeDocument/2006/relationships/image" Target="../media/image16.png"/><Relationship Id="rId6" Type="http://schemas.openxmlformats.org/officeDocument/2006/relationships/image" Target="../media/image19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10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5" Type="http://schemas.openxmlformats.org/officeDocument/2006/relationships/image" Target="../media/image25.png"/><Relationship Id="rId6" Type="http://schemas.openxmlformats.org/officeDocument/2006/relationships/hyperlink" Target="https://arxiv.org/abs/2001.08063" TargetMode="External"/><Relationship Id="rId7" Type="http://schemas.openxmlformats.org/officeDocument/2006/relationships/image" Target="../media/image29.png"/><Relationship Id="rId8" Type="http://schemas.openxmlformats.org/officeDocument/2006/relationships/image" Target="../media/image2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Relationship Id="rId4" Type="http://schemas.openxmlformats.org/officeDocument/2006/relationships/hyperlink" Target="https://arxiv.org/abs/2002.01935v4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3.png"/><Relationship Id="rId4" Type="http://schemas.openxmlformats.org/officeDocument/2006/relationships/hyperlink" Target="https://mermaid.js.org/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7.png"/><Relationship Id="rId4" Type="http://schemas.openxmlformats.org/officeDocument/2006/relationships/hyperlink" Target="https://www.researchgate.net/figure/Multilevel-graph-partitioning-The-graph-is-recursively-contracted-to-achieve-smaller_fig1_305875072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6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9.png"/><Relationship Id="rId4" Type="http://schemas.openxmlformats.org/officeDocument/2006/relationships/hyperlink" Target="https://www.overleaf.com/" TargetMode="External"/><Relationship Id="rId5" Type="http://schemas.openxmlformats.org/officeDocument/2006/relationships/image" Target="../media/image4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www.overleaf.com/" TargetMode="External"/><Relationship Id="rId4" Type="http://schemas.openxmlformats.org/officeDocument/2006/relationships/hyperlink" Target="https://mermaid.js.org/" TargetMode="External"/><Relationship Id="rId5" Type="http://schemas.openxmlformats.org/officeDocument/2006/relationships/image" Target="../media/image33.png"/><Relationship Id="rId6" Type="http://schemas.openxmlformats.org/officeDocument/2006/relationships/image" Target="../media/image4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github.com/Dpbm/mestrado-aulas/tree/main/algoritmos/projeto-seminario" TargetMode="External"/><Relationship Id="rId4" Type="http://schemas.openxmlformats.org/officeDocument/2006/relationships/image" Target="../media/image4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1"/>
          <p:cNvSpPr txBox="1"/>
          <p:nvPr/>
        </p:nvSpPr>
        <p:spPr>
          <a:xfrm>
            <a:off x="468150" y="457200"/>
            <a:ext cx="78669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b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SIMULAÇÃO DE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541800" y="3013375"/>
            <a:ext cx="3198900" cy="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Alexandre Silva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Roteiro: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4" name="Google Shape;444;p42"/>
          <p:cNvSpPr txBox="1"/>
          <p:nvPr/>
        </p:nvSpPr>
        <p:spPr>
          <a:xfrm>
            <a:off x="519600" y="1165375"/>
            <a:ext cx="7837800" cy="3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Contextualização sobre computação quântica;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o problema;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Tensor Networks;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 em si + Análises.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3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é a Computação Quântica?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>
            <a:off x="519600" y="1165375"/>
            <a:ext cx="7837800" cy="3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Utilizar a Mecânica Quântica para realizar computações;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Âtomos, partículas, fótons, elétrons, etc;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avanços;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mais fiéis da realidade (sistemas quânticos);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Atualmente 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Computação Quântica está em evidência.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4"/>
          <p:cNvSpPr txBox="1"/>
          <p:nvPr/>
        </p:nvSpPr>
        <p:spPr>
          <a:xfrm>
            <a:off x="519600" y="228600"/>
            <a:ext cx="81048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Qubits, o que são?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56" name="Google Shape;45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5088" y="979800"/>
            <a:ext cx="6307729" cy="3673324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44"/>
          <p:cNvSpPr txBox="1"/>
          <p:nvPr/>
        </p:nvSpPr>
        <p:spPr>
          <a:xfrm>
            <a:off x="2873700" y="4683725"/>
            <a:ext cx="33027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XB Software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45" title="circu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0825" y="1317425"/>
            <a:ext cx="36576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45"/>
          <p:cNvSpPr txBox="1"/>
          <p:nvPr/>
        </p:nvSpPr>
        <p:spPr>
          <a:xfrm>
            <a:off x="4830675" y="36813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Autoria pr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ó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IBM Quantum Composer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4" name="Google Shape;464;p45"/>
          <p:cNvSpPr txBox="1"/>
          <p:nvPr/>
        </p:nvSpPr>
        <p:spPr>
          <a:xfrm>
            <a:off x="519600" y="1165375"/>
            <a:ext cx="4149000" cy="2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Circuito 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é o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mais usado;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Portas são matrizes (operadores);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Linhas são qubits (vetores).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5" name="Google Shape;465;p45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Computação Quântica: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1" name="Google Shape;471;p46"/>
          <p:cNvSpPr txBox="1"/>
          <p:nvPr/>
        </p:nvSpPr>
        <p:spPr>
          <a:xfrm>
            <a:off x="519600" y="1028700"/>
            <a:ext cx="8395800" cy="26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Computadores Quânticos ainda são limitados - Noisy Intermediate-Scale Quantum (NISQ);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para validar os algoritmos (HPC);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são custosas 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estados cresce a N = 2</a:t>
            </a:r>
            <a:r>
              <a:rPr baseline="30000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endParaRPr baseline="30000"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40 qubits -&gt; 2⁴⁰ ✕ 2³ bytes (float) = 2⁴³ bytes = 8Tb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72" name="Google Shape;472;p46" title="Wed Apr  8 02:16:1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800" y="3337800"/>
            <a:ext cx="6086475" cy="93345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46"/>
          <p:cNvSpPr txBox="1"/>
          <p:nvPr/>
        </p:nvSpPr>
        <p:spPr>
          <a:xfrm>
            <a:off x="2888688" y="43983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7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9" name="Google Shape;479;p47"/>
          <p:cNvSpPr txBox="1"/>
          <p:nvPr/>
        </p:nvSpPr>
        <p:spPr>
          <a:xfrm>
            <a:off x="519600" y="1028700"/>
            <a:ext cx="4052400" cy="29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Generalização de escalares, vetores, matrizes, etc (rank);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 são um tipo de Tensor Network;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Aplicar operações conforme necessário;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Paralelizáveis.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0" name="Google Shape;480;p47"/>
          <p:cNvSpPr txBox="1"/>
          <p:nvPr/>
        </p:nvSpPr>
        <p:spPr>
          <a:xfrm>
            <a:off x="5369646" y="3881276"/>
            <a:ext cx="28773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71925" lIns="71925" spcFirstLastPara="1" rIns="71925" wrap="square" tIns="71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4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4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4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81" name="Google Shape;481;p47" title="Wed Apr  8 02:24:49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800" y="1165375"/>
            <a:ext cx="4086781" cy="2629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8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Tipos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7" name="Google Shape;487;p48"/>
          <p:cNvSpPr txBox="1"/>
          <p:nvPr/>
        </p:nvSpPr>
        <p:spPr>
          <a:xfrm>
            <a:off x="519600" y="1062925"/>
            <a:ext cx="4005300" cy="38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MPS (Tensor Train);</a:t>
            </a:r>
            <a:endParaRPr sz="25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MPO;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PEPS;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PEPO;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TTN;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MERA;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Outros formatos estabelecidos … 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De formato arbitrário. </a:t>
            </a:r>
            <a:endParaRPr sz="25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88" name="Google Shape;48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6900" y="1317338"/>
            <a:ext cx="4314298" cy="2508834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48"/>
          <p:cNvSpPr txBox="1"/>
          <p:nvPr/>
        </p:nvSpPr>
        <p:spPr>
          <a:xfrm>
            <a:off x="5778250" y="3868175"/>
            <a:ext cx="1883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tensornetwork.org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4" name="Google Shape;49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75" y="1303275"/>
            <a:ext cx="6661650" cy="2536951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49"/>
          <p:cNvSpPr txBox="1"/>
          <p:nvPr/>
        </p:nvSpPr>
        <p:spPr>
          <a:xfrm>
            <a:off x="2790150" y="39102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Nvidia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0"/>
          <p:cNvSpPr txBox="1"/>
          <p:nvPr/>
        </p:nvSpPr>
        <p:spPr>
          <a:xfrm>
            <a:off x="2232825" y="2511950"/>
            <a:ext cx="4593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01" name="Google Shape;501;p50"/>
          <p:cNvSpPr txBox="1"/>
          <p:nvPr/>
        </p:nvSpPr>
        <p:spPr>
          <a:xfrm>
            <a:off x="519600" y="296875"/>
            <a:ext cx="81048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Armazenamento de forma eficiente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2" name="Google Shape;502;p50"/>
          <p:cNvSpPr txBox="1"/>
          <p:nvPr/>
        </p:nvSpPr>
        <p:spPr>
          <a:xfrm>
            <a:off x="558450" y="1061275"/>
            <a:ext cx="7933200" cy="38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Identificar cancelamento(AA^† = I);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Compactação de tensores dispersos ou diagonais;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Aceleradores (GPU);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Caching;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de tipos conhecidos de tensors.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1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pode ser extraido com TN?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51"/>
          <p:cNvSpPr txBox="1"/>
          <p:nvPr/>
        </p:nvSpPr>
        <p:spPr>
          <a:xfrm>
            <a:off x="519600" y="1165375"/>
            <a:ext cx="3884100" cy="31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Density Matrix;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State Vector;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Expectation Value;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Unitary;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Tudo depende de como é feita a contração.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09" name="Google Shape;509;p51" title="Sat Apr  4 03:38:37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3628" y="1039325"/>
            <a:ext cx="4078574" cy="3300459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51"/>
          <p:cNvSpPr txBox="1"/>
          <p:nvPr/>
        </p:nvSpPr>
        <p:spPr>
          <a:xfrm>
            <a:off x="5083462" y="4366027"/>
            <a:ext cx="2846100" cy="3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71150" lIns="71150" spcFirstLastPara="1" rIns="71150" wrap="square" tIns="711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3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3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https://doi.org/10.1145/3547334</a:t>
            </a:r>
            <a:endParaRPr sz="123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52"/>
          <p:cNvSpPr txBox="1"/>
          <p:nvPr/>
        </p:nvSpPr>
        <p:spPr>
          <a:xfrm>
            <a:off x="519600" y="1165375"/>
            <a:ext cx="7837800" cy="28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Contrações (Unir tensores em blocos);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Sequência de contrações garante resultado mais ou menos custoso;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Decomposição (Inverso da contração);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SVD;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QR;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Existem também outras operações como Slicing → Possibilita paralelização.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1" name="Google Shape;521;p53" title="t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7050" y="302488"/>
            <a:ext cx="7343775" cy="42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53"/>
          <p:cNvSpPr txBox="1"/>
          <p:nvPr/>
        </p:nvSpPr>
        <p:spPr>
          <a:xfrm>
            <a:off x="2980625" y="45220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7" name="Google Shape;527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350" y="685463"/>
            <a:ext cx="7643200" cy="3772576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54"/>
          <p:cNvSpPr txBox="1"/>
          <p:nvPr/>
        </p:nvSpPr>
        <p:spPr>
          <a:xfrm>
            <a:off x="2790150" y="45040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Nvidia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3" name="Google Shape;533;p55" title="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251" y="1204475"/>
            <a:ext cx="3988799" cy="156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55" title="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8951" y="1204475"/>
            <a:ext cx="4026422" cy="1560625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55"/>
          <p:cNvSpPr txBox="1"/>
          <p:nvPr/>
        </p:nvSpPr>
        <p:spPr>
          <a:xfrm>
            <a:off x="2743200" y="3243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56"/>
          <p:cNvSpPr txBox="1"/>
          <p:nvPr/>
        </p:nvSpPr>
        <p:spPr>
          <a:xfrm>
            <a:off x="2871775" y="4377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ão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própria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Excalidraw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41" name="Google Shape;541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250" y="638950"/>
            <a:ext cx="4107900" cy="14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56" title="Wed Apr  8 03:19:35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5250" y="2824800"/>
            <a:ext cx="20574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56" title="Wed Apr  8 03:26:19 PM -03 2026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4113" y="945800"/>
            <a:ext cx="1209675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Google Shape;544;p56" title="Wed Apr  8 03:26:23 PM -03 202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43800" y="874362"/>
            <a:ext cx="2333625" cy="100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Google Shape;545;p56" title="Wed Apr  8 03:31:02 PM -03 2026.png"/>
          <p:cNvPicPr preferRelativeResize="0"/>
          <p:nvPr/>
        </p:nvPicPr>
        <p:blipFill rotWithShape="1">
          <a:blip r:embed="rId9">
            <a:alphaModFix/>
          </a:blip>
          <a:srcRect b="7362" l="2714" r="1739" t="5613"/>
          <a:stretch/>
        </p:blipFill>
        <p:spPr>
          <a:xfrm>
            <a:off x="2842612" y="2743825"/>
            <a:ext cx="3628268" cy="1000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6" name="Google Shape;546;p56"/>
          <p:cNvCxnSpPr>
            <a:stCxn id="542" idx="3"/>
            <a:endCxn id="545" idx="1"/>
          </p:cNvCxnSpPr>
          <p:nvPr/>
        </p:nvCxnSpPr>
        <p:spPr>
          <a:xfrm>
            <a:off x="2512650" y="3243900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547" name="Google Shape;547;p56" title="Wed Apr  8 03:34:00 PM -03 202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800825" y="2734312"/>
            <a:ext cx="1790700" cy="1019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8" name="Google Shape;548;p56"/>
          <p:cNvCxnSpPr/>
          <p:nvPr/>
        </p:nvCxnSpPr>
        <p:spPr>
          <a:xfrm>
            <a:off x="1031675" y="2115300"/>
            <a:ext cx="0" cy="727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49" name="Google Shape;549;p56"/>
          <p:cNvCxnSpPr>
            <a:stCxn id="545" idx="3"/>
            <a:endCxn id="547" idx="1"/>
          </p:cNvCxnSpPr>
          <p:nvPr/>
        </p:nvCxnSpPr>
        <p:spPr>
          <a:xfrm>
            <a:off x="6470880" y="3243887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57"/>
          <p:cNvSpPr txBox="1"/>
          <p:nvPr/>
        </p:nvSpPr>
        <p:spPr>
          <a:xfrm>
            <a:off x="519600" y="296875"/>
            <a:ext cx="81048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Custo de 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5" name="Google Shape;555;p57"/>
          <p:cNvSpPr txBox="1"/>
          <p:nvPr/>
        </p:nvSpPr>
        <p:spPr>
          <a:xfrm>
            <a:off x="558450" y="1092475"/>
            <a:ext cx="4013700" cy="3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Medido em FLOPs;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Bond dimensions -&gt; principal contribuinte;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Máximo </a:t>
            </a:r>
            <a:r>
              <a:rPr i="1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que um index pode ser;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Representa a quantidade de entanglements;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 de otimização;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Análise espaço e tempo.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6" name="Google Shape;556;p57" title="Wed Apr  8 03:31:02 PM -03 2026.png"/>
          <p:cNvPicPr preferRelativeResize="0"/>
          <p:nvPr/>
        </p:nvPicPr>
        <p:blipFill rotWithShape="1">
          <a:blip r:embed="rId3">
            <a:alphaModFix/>
          </a:blip>
          <a:srcRect b="7362" l="2714" r="1739" t="5613"/>
          <a:stretch/>
        </p:blipFill>
        <p:spPr>
          <a:xfrm>
            <a:off x="4522975" y="1531098"/>
            <a:ext cx="4394251" cy="121126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57"/>
          <p:cNvSpPr txBox="1"/>
          <p:nvPr/>
        </p:nvSpPr>
        <p:spPr>
          <a:xfrm>
            <a:off x="4965851" y="2802856"/>
            <a:ext cx="3693900" cy="13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76075" lIns="76075" spcFirstLastPara="1" rIns="76075" wrap="square" tIns="76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5"/>
              <a:buFont typeface="Arial"/>
              <a:buNone/>
            </a:pPr>
            <a:r>
              <a:rPr lang="en" sz="233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 = 1; d = 2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O(d) * O(d) = O(d</a:t>
            </a:r>
            <a:r>
              <a:rPr b="1" baseline="30000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FLOPs = d (2d - 1)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58" title="Thu Apr  2 04:09:10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276" y="1753088"/>
            <a:ext cx="3102525" cy="87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58" title="Thu Apr  2 04:12:24 PM -03 2026.png"/>
          <p:cNvPicPr preferRelativeResize="0"/>
          <p:nvPr/>
        </p:nvPicPr>
        <p:blipFill rotWithShape="1">
          <a:blip r:embed="rId4">
            <a:alphaModFix/>
          </a:blip>
          <a:srcRect b="0" l="0" r="9314" t="0"/>
          <a:stretch/>
        </p:blipFill>
        <p:spPr>
          <a:xfrm>
            <a:off x="3978850" y="1055025"/>
            <a:ext cx="2059825" cy="74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58" title="Thu Apr  2 04:12:28 PM -03 2026.png"/>
          <p:cNvPicPr preferRelativeResize="0"/>
          <p:nvPr/>
        </p:nvPicPr>
        <p:blipFill rotWithShape="1">
          <a:blip r:embed="rId5">
            <a:alphaModFix/>
          </a:blip>
          <a:srcRect b="0" l="2763" r="2621" t="0"/>
          <a:stretch/>
        </p:blipFill>
        <p:spPr>
          <a:xfrm>
            <a:off x="6570275" y="1022550"/>
            <a:ext cx="2267350" cy="811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65" name="Google Shape;565;p58"/>
          <p:cNvCxnSpPr>
            <a:stCxn id="562" idx="3"/>
            <a:endCxn id="563" idx="1"/>
          </p:cNvCxnSpPr>
          <p:nvPr/>
        </p:nvCxnSpPr>
        <p:spPr>
          <a:xfrm flipH="1" rot="10800000">
            <a:off x="3279800" y="1428150"/>
            <a:ext cx="699000" cy="762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66" name="Google Shape;566;p58"/>
          <p:cNvSpPr txBox="1"/>
          <p:nvPr/>
        </p:nvSpPr>
        <p:spPr>
          <a:xfrm>
            <a:off x="2696250" y="4636625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arXiv:2001.08063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67" name="Google Shape;567;p58"/>
          <p:cNvCxnSpPr>
            <a:stCxn id="563" idx="3"/>
            <a:endCxn id="564" idx="1"/>
          </p:cNvCxnSpPr>
          <p:nvPr/>
        </p:nvCxnSpPr>
        <p:spPr>
          <a:xfrm>
            <a:off x="6038675" y="1428263"/>
            <a:ext cx="531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568" name="Google Shape;568;p58" title="Thu Apr  2 04:16:53 PM -03 2026.png"/>
          <p:cNvPicPr preferRelativeResize="0"/>
          <p:nvPr/>
        </p:nvPicPr>
        <p:blipFill rotWithShape="1">
          <a:blip r:embed="rId7">
            <a:alphaModFix/>
          </a:blip>
          <a:srcRect b="0" l="0" r="6551" t="0"/>
          <a:stretch/>
        </p:blipFill>
        <p:spPr>
          <a:xfrm>
            <a:off x="3010325" y="2724325"/>
            <a:ext cx="2901725" cy="847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" name="Google Shape;569;p58" title="Thu Apr  2 04:16:58 PM -03 2026.png"/>
          <p:cNvPicPr preferRelativeResize="0"/>
          <p:nvPr/>
        </p:nvPicPr>
        <p:blipFill rotWithShape="1">
          <a:blip r:embed="rId8">
            <a:alphaModFix/>
          </a:blip>
          <a:srcRect b="0" l="3305" r="3594" t="0"/>
          <a:stretch/>
        </p:blipFill>
        <p:spPr>
          <a:xfrm>
            <a:off x="6250150" y="2748138"/>
            <a:ext cx="2802300" cy="8001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0" name="Google Shape;570;p58"/>
          <p:cNvCxnSpPr>
            <a:stCxn id="562" idx="3"/>
            <a:endCxn id="568" idx="0"/>
          </p:cNvCxnSpPr>
          <p:nvPr/>
        </p:nvCxnSpPr>
        <p:spPr>
          <a:xfrm>
            <a:off x="3279800" y="2190450"/>
            <a:ext cx="1181400" cy="534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71" name="Google Shape;571;p58"/>
          <p:cNvCxnSpPr>
            <a:stCxn id="568" idx="3"/>
            <a:endCxn id="569" idx="1"/>
          </p:cNvCxnSpPr>
          <p:nvPr/>
        </p:nvCxnSpPr>
        <p:spPr>
          <a:xfrm>
            <a:off x="5912050" y="3148188"/>
            <a:ext cx="3381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72" name="Google Shape;572;p58"/>
          <p:cNvSpPr txBox="1"/>
          <p:nvPr/>
        </p:nvSpPr>
        <p:spPr>
          <a:xfrm>
            <a:off x="3801925" y="1940100"/>
            <a:ext cx="10575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</a:rPr>
              <a:t>JI</a:t>
            </a:r>
            <a:endParaRPr sz="2500">
              <a:solidFill>
                <a:schemeClr val="lt1"/>
              </a:solidFill>
            </a:endParaRPr>
          </a:p>
        </p:txBody>
      </p:sp>
      <p:sp>
        <p:nvSpPr>
          <p:cNvPr id="573" name="Google Shape;573;p58"/>
          <p:cNvSpPr txBox="1"/>
          <p:nvPr/>
        </p:nvSpPr>
        <p:spPr>
          <a:xfrm>
            <a:off x="2665200" y="1055025"/>
            <a:ext cx="10575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</a:rPr>
              <a:t>IJ</a:t>
            </a:r>
            <a:endParaRPr sz="2500">
              <a:solidFill>
                <a:schemeClr val="lt1"/>
              </a:solidFill>
            </a:endParaRPr>
          </a:p>
        </p:txBody>
      </p:sp>
      <p:pic>
        <p:nvPicPr>
          <p:cNvPr id="574" name="Google Shape;574;p58" title="differences.png"/>
          <p:cNvPicPr preferRelativeResize="0"/>
          <p:nvPr/>
        </p:nvPicPr>
        <p:blipFill rotWithShape="1">
          <a:blip r:embed="rId9">
            <a:alphaModFix/>
          </a:blip>
          <a:srcRect b="48837" l="3657" r="9052" t="42016"/>
          <a:stretch/>
        </p:blipFill>
        <p:spPr>
          <a:xfrm>
            <a:off x="3976425" y="529900"/>
            <a:ext cx="4656107" cy="34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p58" title="differences.png"/>
          <p:cNvPicPr preferRelativeResize="0"/>
          <p:nvPr/>
        </p:nvPicPr>
        <p:blipFill rotWithShape="1">
          <a:blip r:embed="rId9">
            <a:alphaModFix/>
          </a:blip>
          <a:srcRect b="19381" l="19392" r="19684" t="64030"/>
          <a:stretch/>
        </p:blipFill>
        <p:spPr>
          <a:xfrm>
            <a:off x="3450500" y="3698628"/>
            <a:ext cx="4170766" cy="81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9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Métodos para encontrar a sequência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1" name="Google Shape;581;p59"/>
          <p:cNvSpPr txBox="1"/>
          <p:nvPr/>
        </p:nvSpPr>
        <p:spPr>
          <a:xfrm>
            <a:off x="558450" y="1090675"/>
            <a:ext cx="7933200" cy="35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Greedy;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Algoritmos genéticos (métodos heurísticos);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Simulated annealing, Tabu Search, DFS, BFS (busca em grafos);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QuickBB;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Outros métodos que minimizam a função de custo.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0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Passos para Simular o Circuito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7" name="Google Shape;587;p60"/>
          <p:cNvSpPr txBox="1"/>
          <p:nvPr/>
        </p:nvSpPr>
        <p:spPr>
          <a:xfrm>
            <a:off x="558450" y="1090675"/>
            <a:ext cx="7933200" cy="32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Aplicação das contrações → resultado.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Obs: Grafos são dispersos (circuitos não são completamente interligados)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3" name="Google Shape;593;p61"/>
          <p:cNvSpPr txBox="1"/>
          <p:nvPr/>
        </p:nvSpPr>
        <p:spPr>
          <a:xfrm>
            <a:off x="374800" y="948950"/>
            <a:ext cx="4497600" cy="3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Depende da estrutura da rede;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Simplificações -&gt; Absorção de tensors, SVD, Introdução de Hyperedges, etc. Tidos como ≈ O(1) (tempo);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Complexidade tempo: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O(d x n) ≈ O(n);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número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de passos d é geralmente pequeno;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nodes n é mais expressivo;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armazenamento reduz a cada iteração.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4" name="Google Shape;594;p61"/>
          <p:cNvSpPr txBox="1"/>
          <p:nvPr/>
        </p:nvSpPr>
        <p:spPr>
          <a:xfrm>
            <a:off x="5137478" y="4060589"/>
            <a:ext cx="34245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85600" lIns="85600" spcFirstLastPara="1" rIns="85600" wrap="square" tIns="856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12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12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5" name="Google Shape;595;p61" title="Wed Apr 15 08:42:0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375" y="1454975"/>
            <a:ext cx="3666708" cy="2241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62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 (Hyper-Par)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1" name="Google Shape;601;p62"/>
          <p:cNvSpPr txBox="1"/>
          <p:nvPr/>
        </p:nvSpPr>
        <p:spPr>
          <a:xfrm>
            <a:off x="558450" y="1323750"/>
            <a:ext cx="7933200" cy="30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Repartição de subárvores -&gt; KaHyPar;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outros algoritmos nas subárvores (Optimal ou Greedy);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Parâmetros de balanceamento (ε), repartições (k) e cut-off.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Google Shape;606;p63" title="Thu Apr  9 11:17:06 A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1825" y="240225"/>
            <a:ext cx="4560351" cy="4314449"/>
          </a:xfrm>
          <a:prstGeom prst="rect">
            <a:avLst/>
          </a:prstGeom>
          <a:noFill/>
          <a:ln>
            <a:noFill/>
          </a:ln>
        </p:spPr>
      </p:pic>
      <p:sp>
        <p:nvSpPr>
          <p:cNvPr id="607" name="Google Shape;607;p63"/>
          <p:cNvSpPr txBox="1"/>
          <p:nvPr/>
        </p:nvSpPr>
        <p:spPr>
          <a:xfrm>
            <a:off x="2862800" y="4554675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arXiv:2002.01935v4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08" name="Google Shape;608;p63"/>
          <p:cNvCxnSpPr/>
          <p:nvPr/>
        </p:nvCxnSpPr>
        <p:spPr>
          <a:xfrm rot="10800000">
            <a:off x="7137200" y="303075"/>
            <a:ext cx="31800" cy="42264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09" name="Google Shape;609;p63"/>
          <p:cNvSpPr txBox="1"/>
          <p:nvPr/>
        </p:nvSpPr>
        <p:spPr>
          <a:xfrm>
            <a:off x="5295025" y="272550"/>
            <a:ext cx="917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Caminho 1</a:t>
            </a:r>
            <a:endParaRPr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0" name="Google Shape;610;p63"/>
          <p:cNvSpPr txBox="1"/>
          <p:nvPr/>
        </p:nvSpPr>
        <p:spPr>
          <a:xfrm>
            <a:off x="2472975" y="3383450"/>
            <a:ext cx="917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Caminho 2</a:t>
            </a:r>
            <a:endParaRPr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64" title="Thu Apr  9 12:54:17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1371" y="995000"/>
            <a:ext cx="4201246" cy="315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64"/>
          <p:cNvSpPr/>
          <p:nvPr/>
        </p:nvSpPr>
        <p:spPr>
          <a:xfrm>
            <a:off x="6961675" y="994925"/>
            <a:ext cx="263100" cy="31536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7" name="Google Shape;617;p64"/>
          <p:cNvSpPr/>
          <p:nvPr/>
        </p:nvSpPr>
        <p:spPr>
          <a:xfrm>
            <a:off x="2329800" y="3070150"/>
            <a:ext cx="4440600" cy="55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8" name="Google Shape;618;p64"/>
          <p:cNvSpPr txBox="1"/>
          <p:nvPr/>
        </p:nvSpPr>
        <p:spPr>
          <a:xfrm>
            <a:off x="924900" y="2913400"/>
            <a:ext cx="140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Cut-off ou |V| = 1</a:t>
            </a:r>
            <a:endParaRPr b="1"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9" name="Google Shape;619;p64"/>
          <p:cNvSpPr txBox="1"/>
          <p:nvPr/>
        </p:nvSpPr>
        <p:spPr>
          <a:xfrm>
            <a:off x="2743200" y="46342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0" name="Google Shape;620;p64"/>
          <p:cNvSpPr txBox="1"/>
          <p:nvPr/>
        </p:nvSpPr>
        <p:spPr>
          <a:xfrm>
            <a:off x="3765750" y="4572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Todo o Grafo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1" name="Google Shape;621;p64"/>
          <p:cNvSpPr txBox="1"/>
          <p:nvPr/>
        </p:nvSpPr>
        <p:spPr>
          <a:xfrm>
            <a:off x="3696900" y="41937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Partições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2" name="Google Shape;622;p64"/>
          <p:cNvSpPr txBox="1"/>
          <p:nvPr/>
        </p:nvSpPr>
        <p:spPr>
          <a:xfrm>
            <a:off x="623400" y="799375"/>
            <a:ext cx="17064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Esse é o caminho das contrações.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Melhor repartição dará o melhor caminho.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65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58450" y="948950"/>
            <a:ext cx="7933200" cy="39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Usar a recursão e ajuste de parâmetros;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Pega samples dos resultados e o menor custo “ganha”;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Minimização do corte (menos indices);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Gera problemas tão pequenos que algoritmos exatos são rápidos;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tiliza de algoritmos óptimos para criar o restante;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Resultados próximos ao ótimo relativamente rápido.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6"/>
          <p:cNvSpPr txBox="1"/>
          <p:nvPr/>
        </p:nvSpPr>
        <p:spPr>
          <a:xfrm>
            <a:off x="4891288" y="41860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4" name="Google Shape;634;p66"/>
          <p:cNvSpPr txBox="1"/>
          <p:nvPr/>
        </p:nvSpPr>
        <p:spPr>
          <a:xfrm>
            <a:off x="558200" y="861825"/>
            <a:ext cx="4162800" cy="35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Testa combinações de parâmetros;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 * ε * cut * (V + cost));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O(V + cost);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Partition é a parte mais custosa;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O(n) → (O(G) = O(n));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5" name="Google Shape;635;p66"/>
          <p:cNvSpPr txBox="1"/>
          <p:nvPr/>
        </p:nvSpPr>
        <p:spPr>
          <a:xfrm>
            <a:off x="51960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Algoritmo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6" name="Google Shape;636;p66" title="Wed Apr 15 08:42:3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2725" y="1463438"/>
            <a:ext cx="3714750" cy="220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67"/>
          <p:cNvSpPr txBox="1"/>
          <p:nvPr/>
        </p:nvSpPr>
        <p:spPr>
          <a:xfrm>
            <a:off x="4816100" y="41930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2" name="Google Shape;642;p67"/>
          <p:cNvSpPr txBox="1"/>
          <p:nvPr/>
        </p:nvSpPr>
        <p:spPr>
          <a:xfrm>
            <a:off x="366825" y="598075"/>
            <a:ext cx="4696800" cy="38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Custo cresce exponencialmente com o número de indices;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○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 → sendo n a quantidade de nós.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○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O(1) → valor constante retornado.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43" name="Google Shape;643;p67" title="Wed Apr 15 08:42:5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21175" y="384550"/>
            <a:ext cx="3397833" cy="373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68"/>
          <p:cNvSpPr txBox="1"/>
          <p:nvPr/>
        </p:nvSpPr>
        <p:spPr>
          <a:xfrm>
            <a:off x="4891288" y="4090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9" name="Google Shape;649;p68"/>
          <p:cNvSpPr txBox="1"/>
          <p:nvPr/>
        </p:nvSpPr>
        <p:spPr>
          <a:xfrm>
            <a:off x="431850" y="511250"/>
            <a:ext cx="4423800" cy="38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Criação da árvore via recursão (bipartição);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KaHyPar sempre executa;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 é custoso (quando n grande → não deve acontecer);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j *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h* O(Opt)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Children é o principal;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50" name="Google Shape;650;p68" title="Wed Apr 15 08:43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1850" y="349700"/>
            <a:ext cx="3983551" cy="374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9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6" name="Google Shape;656;p69"/>
          <p:cNvSpPr txBox="1"/>
          <p:nvPr/>
        </p:nvSpPr>
        <p:spPr>
          <a:xfrm>
            <a:off x="431850" y="871475"/>
            <a:ext cx="4735500" cy="3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Calcula o custo de cada nó (tamanho do tensor);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Dá uma probabilidade para ter a chance de escolher um pior → fugir do local optima;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O(n³);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→ pares;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Por isso n deve ser pequeno.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7" name="Google Shape;657;p69"/>
          <p:cNvSpPr txBox="1"/>
          <p:nvPr/>
        </p:nvSpPr>
        <p:spPr>
          <a:xfrm>
            <a:off x="287100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Hyper-Greedy Opt.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58" name="Google Shape;658;p69" title="Wed Apr 15 08:44:0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7675" y="397375"/>
            <a:ext cx="2852750" cy="401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70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64" name="Google Shape;66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150" y="1574563"/>
            <a:ext cx="4521026" cy="1994382"/>
          </a:xfrm>
          <a:prstGeom prst="rect">
            <a:avLst/>
          </a:prstGeom>
          <a:noFill/>
          <a:ln>
            <a:noFill/>
          </a:ln>
        </p:spPr>
      </p:pic>
      <p:sp>
        <p:nvSpPr>
          <p:cNvPr id="665" name="Google Shape;665;p70"/>
          <p:cNvSpPr txBox="1"/>
          <p:nvPr/>
        </p:nvSpPr>
        <p:spPr>
          <a:xfrm>
            <a:off x="4749875" y="353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66" name="Google Shape;666;p70"/>
          <p:cNvSpPr txBox="1"/>
          <p:nvPr/>
        </p:nvSpPr>
        <p:spPr>
          <a:xfrm>
            <a:off x="366825" y="413350"/>
            <a:ext cx="4205100" cy="39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Multilevel graph partitioning 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Particiona;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Realiza o caminho inverso;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Usa m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ú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lti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plos algoritmos (Portifólio);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Hypergraphs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Pode usar pré-processamento e otimizações.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71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2" name="Google Shape;672;p71"/>
          <p:cNvSpPr txBox="1"/>
          <p:nvPr/>
        </p:nvSpPr>
        <p:spPr>
          <a:xfrm>
            <a:off x="366825" y="228600"/>
            <a:ext cx="4464900" cy="46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 contraindo os nós;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Fase de Coarsening;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Faz shuffle dos nós para ser mais “justo”;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Procura por pequenos clusters;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Para com algum critério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específico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(não há mais nós, antingiru certo tamanho, etc.);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3" name="Google Shape;673;p71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74" name="Google Shape;674;p71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72"/>
          <p:cNvSpPr txBox="1"/>
          <p:nvPr/>
        </p:nvSpPr>
        <p:spPr>
          <a:xfrm>
            <a:off x="4891288" y="46509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0" name="Google Shape;680;p72"/>
          <p:cNvSpPr txBox="1"/>
          <p:nvPr/>
        </p:nvSpPr>
        <p:spPr>
          <a:xfrm>
            <a:off x="1331950" y="443350"/>
            <a:ext cx="2711100" cy="9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O(e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O(g) 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1" name="Google Shape;681;p72"/>
          <p:cNvSpPr txBox="1"/>
          <p:nvPr/>
        </p:nvSpPr>
        <p:spPr>
          <a:xfrm>
            <a:off x="933000" y="2153100"/>
            <a:ext cx="33327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= 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+e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2" name="Google Shape;682;p72"/>
          <p:cNvSpPr txBox="1"/>
          <p:nvPr/>
        </p:nvSpPr>
        <p:spPr>
          <a:xfrm>
            <a:off x="891550" y="3456050"/>
            <a:ext cx="31515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Diminui (O(1))</a:t>
            </a:r>
            <a:endParaRPr sz="2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83" name="Google Shape;683;p72"/>
          <p:cNvCxnSpPr/>
          <p:nvPr/>
        </p:nvCxnSpPr>
        <p:spPr>
          <a:xfrm flipH="1" rot="10800000">
            <a:off x="3492825" y="3620275"/>
            <a:ext cx="1786200" cy="93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684" name="Google Shape;684;p72" title="Thu Apr 16 11:19:44 A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8950" y="194150"/>
            <a:ext cx="2242450" cy="44363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5" name="Google Shape;685;p72"/>
          <p:cNvCxnSpPr/>
          <p:nvPr/>
        </p:nvCxnSpPr>
        <p:spPr>
          <a:xfrm flipH="1" rot="10800000">
            <a:off x="4043050" y="972875"/>
            <a:ext cx="1794300" cy="79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86" name="Google Shape;686;p72"/>
          <p:cNvCxnSpPr/>
          <p:nvPr/>
        </p:nvCxnSpPr>
        <p:spPr>
          <a:xfrm flipH="1" rot="10800000">
            <a:off x="3875575" y="2448325"/>
            <a:ext cx="1642200" cy="7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73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2" name="Google Shape;692;p73"/>
          <p:cNvSpPr txBox="1"/>
          <p:nvPr/>
        </p:nvSpPr>
        <p:spPr>
          <a:xfrm>
            <a:off x="366825" y="228600"/>
            <a:ext cx="4464900" cy="46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n=nodes; g=neighbors; e=edges; v=vertices;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* 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(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ge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)) 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nós conectados (threshold alto):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v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g=n-1;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3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Caso mais real: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valores são pequenos, dado grafos mais esparsos (circuitos geralmente não são totalmente interligados) , pré-processados e threshold baixo;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O(n).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3" name="Google Shape;693;p73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94" name="Google Shape;694;p73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9" name="Google Shape;699;p74" title="Wed Apr 15 08:47:5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350" y="317525"/>
            <a:ext cx="2726700" cy="4180158"/>
          </a:xfrm>
          <a:prstGeom prst="rect">
            <a:avLst/>
          </a:prstGeom>
          <a:noFill/>
          <a:ln>
            <a:noFill/>
          </a:ln>
        </p:spPr>
      </p:pic>
      <p:sp>
        <p:nvSpPr>
          <p:cNvPr id="700" name="Google Shape;700;p74"/>
          <p:cNvSpPr txBox="1"/>
          <p:nvPr/>
        </p:nvSpPr>
        <p:spPr>
          <a:xfrm>
            <a:off x="2982863" y="4605663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1" name="Google Shape;701;p74"/>
          <p:cNvSpPr txBox="1"/>
          <p:nvPr/>
        </p:nvSpPr>
        <p:spPr>
          <a:xfrm>
            <a:off x="4318200" y="1416750"/>
            <a:ext cx="1762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O(n log 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702" name="Google Shape;702;p74"/>
          <p:cNvCxnSpPr>
            <a:stCxn id="701" idx="2"/>
          </p:cNvCxnSpPr>
          <p:nvPr/>
        </p:nvCxnSpPr>
        <p:spPr>
          <a:xfrm>
            <a:off x="5199450" y="2001750"/>
            <a:ext cx="1291800" cy="182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3" name="Google Shape;703;p74"/>
          <p:cNvSpPr txBox="1"/>
          <p:nvPr/>
        </p:nvSpPr>
        <p:spPr>
          <a:xfrm>
            <a:off x="228600" y="3863900"/>
            <a:ext cx="1524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4" name="Google Shape;704;p74"/>
          <p:cNvSpPr txBox="1"/>
          <p:nvPr/>
        </p:nvSpPr>
        <p:spPr>
          <a:xfrm>
            <a:off x="103475" y="1801500"/>
            <a:ext cx="24306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5" name="Google Shape;705;p74"/>
          <p:cNvSpPr txBox="1"/>
          <p:nvPr/>
        </p:nvSpPr>
        <p:spPr>
          <a:xfrm>
            <a:off x="228600" y="404425"/>
            <a:ext cx="2430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706" name="Google Shape;706;p74" title="Wed Apr 15 08:49:24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23538" y="88688"/>
            <a:ext cx="2168425" cy="45169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7" name="Google Shape;707;p74"/>
          <p:cNvCxnSpPr/>
          <p:nvPr/>
        </p:nvCxnSpPr>
        <p:spPr>
          <a:xfrm flipH="1" rot="10800000">
            <a:off x="1309788" y="2153078"/>
            <a:ext cx="986700" cy="160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8" name="Google Shape;708;p74"/>
          <p:cNvCxnSpPr/>
          <p:nvPr/>
        </p:nvCxnSpPr>
        <p:spPr>
          <a:xfrm>
            <a:off x="1699800" y="757575"/>
            <a:ext cx="517200" cy="1515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9" name="Google Shape;709;p74"/>
          <p:cNvCxnSpPr>
            <a:stCxn id="703" idx="3"/>
          </p:cNvCxnSpPr>
          <p:nvPr/>
        </p:nvCxnSpPr>
        <p:spPr>
          <a:xfrm flipH="1" rot="10800000">
            <a:off x="1753200" y="4067000"/>
            <a:ext cx="511500" cy="150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10" name="Google Shape;710;p74"/>
          <p:cNvSpPr txBox="1"/>
          <p:nvPr/>
        </p:nvSpPr>
        <p:spPr>
          <a:xfrm>
            <a:off x="228600" y="2838900"/>
            <a:ext cx="1645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Considerando coarsening ≈ 1/2</a:t>
            </a:r>
            <a:r>
              <a:rPr b="1" baseline="30000" lang="en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k</a:t>
            </a:r>
            <a:endParaRPr b="1" baseline="30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75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6" name="Google Shape;716;p75"/>
          <p:cNvSpPr txBox="1"/>
          <p:nvPr/>
        </p:nvSpPr>
        <p:spPr>
          <a:xfrm>
            <a:off x="366825" y="406700"/>
            <a:ext cx="8359500" cy="44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 contração segue a árvore criada;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 * 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sendo n o número de nós e D a dimensão de ligação dos tensors;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para o armazenamento dos tensors.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7" name="Google Shape;717;p75"/>
          <p:cNvSpPr txBox="1"/>
          <p:nvPr/>
        </p:nvSpPr>
        <p:spPr>
          <a:xfrm>
            <a:off x="1491237" y="4479575"/>
            <a:ext cx="7151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718" name="Google Shape;718;p75" title="Thu Apr  9 12:54:17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3899" y="1930300"/>
            <a:ext cx="2931550" cy="22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9" name="Google Shape;719;p75"/>
          <p:cNvCxnSpPr/>
          <p:nvPr/>
        </p:nvCxnSpPr>
        <p:spPr>
          <a:xfrm rot="10800000">
            <a:off x="933000" y="2041525"/>
            <a:ext cx="0" cy="1937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720" name="Google Shape;720;p75" title="Wed Apr 15 08:35:56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31725" y="1977652"/>
            <a:ext cx="3894650" cy="176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76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Considerações Finais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6" name="Google Shape;726;p76"/>
          <p:cNvSpPr txBox="1"/>
          <p:nvPr/>
        </p:nvSpPr>
        <p:spPr>
          <a:xfrm>
            <a:off x="558450" y="940975"/>
            <a:ext cx="7926300" cy="3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encontrar o melhor caminho o limitante é o KaHyPar ≈ O(n log n) do qual é repetido 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vezes;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é limitado pelo tamanho dos tensors durante a contração;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Quando D é pequeno o tensor é menos disperso então KaHyPar é o maior peso.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Em espaço o algoritmo consome no pior caso O(2</a:t>
            </a:r>
            <a:r>
              <a:rPr baseline="30000"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). Quando D é pequeno O(n);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Paralelização e aceleradores;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funções de otimização.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77"/>
          <p:cNvSpPr txBox="1"/>
          <p:nvPr/>
        </p:nvSpPr>
        <p:spPr>
          <a:xfrm>
            <a:off x="519600" y="853650"/>
            <a:ext cx="49356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Repositório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2" name="Google Shape;732;p77"/>
          <p:cNvSpPr txBox="1"/>
          <p:nvPr/>
        </p:nvSpPr>
        <p:spPr>
          <a:xfrm>
            <a:off x="571800" y="1983100"/>
            <a:ext cx="4831200" cy="18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u="sng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https://github.com/Dpbm/mestrado-aulas/tree/main/algoritmos/projeto-seminario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33" name="Google Shape;733;p77" title="qrcode_github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5200" y="853650"/>
            <a:ext cx="3436200" cy="343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78"/>
          <p:cNvSpPr txBox="1"/>
          <p:nvPr/>
        </p:nvSpPr>
        <p:spPr>
          <a:xfrm>
            <a:off x="385950" y="96475"/>
            <a:ext cx="77634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Referências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9" name="Google Shape;739;p78"/>
          <p:cNvSpPr txBox="1"/>
          <p:nvPr/>
        </p:nvSpPr>
        <p:spPr>
          <a:xfrm>
            <a:off x="385950" y="504700"/>
            <a:ext cx="8529600" cy="4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FISHMAN, M.; WHITE, S.; STOUDENMIRE, E. The ITensor Software Library for Tensor Network Calculations. SciPost Physics Codebases, p. 004, 23 ago.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Overview — NVIDIA cuQuantum 23.06.0 documentation. Disponível em: &lt;https://docs.nvidia.com/cuda/cuquantum/23.06.0/cutensornet/overview.html&gt;. Acesso em: 4 abr. 2026.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SCHINDLER, F.; JERMYN, A. S. Algorithms for tensor network contraction ordering. Machine Learning: Science and Technology, v. 1, n. 3, p. 035001, 2 jul. 2020.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BRIDGEMAN, J. C.; CHUBB, C. T. Hand-waving and interpretive dance: an introductory course on tensor networks. v. 50, n. 22, p. 223001–223001, 9 mar. 2016.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NGUYEN, T. et al. Tensor Network Quantum Virtual Machine for Simulating Quantum Circuits at Exascale. ACM Transactions on Quantum Computing, v. 4, n. 1, p. 1–21, 21 out.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ORÚS, R. A practical introduction to tensor networks: Matrix product states and projected entangled pair states. Annals of Physics, v. 349, p. 117–158, out. 2014.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GRAY, J.; KOURTIS, S. Hyper-optimized tensor network contraction. Quantum, v. 5, p. 410, 15 mar. 2021.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SCHLAG, S. et al. High-Quality Hypergraph Partitioning. ACM Journal of Experimental Algorithmics, v. 27, p. 1–39, 21 abr.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