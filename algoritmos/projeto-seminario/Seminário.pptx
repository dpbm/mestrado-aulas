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Inter"/>
      <p:regular r:id="rId29"/>
      <p:bold r:id="rId30"/>
      <p:italic r:id="rId31"/>
      <p:boldItalic r:id="rId32"/>
    </p:embeddedFont>
    <p:embeddedFont>
      <p:font typeface="Urbanist Medium"/>
      <p:regular r:id="rId33"/>
      <p:bold r:id="rId34"/>
      <p:italic r:id="rId35"/>
      <p:boldItalic r:id="rId36"/>
    </p:embeddedFont>
    <p:embeddedFont>
      <p:font typeface="Urbanist SemiBold"/>
      <p:regular r:id="rId37"/>
      <p:bold r:id="rId38"/>
      <p:italic r:id="rId39"/>
      <p:boldItalic r:id="rId40"/>
    </p:embeddedFont>
    <p:embeddedFont>
      <p:font typeface="Urbanist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SemiBold-boldItalic.fntdata"/><Relationship Id="rId20" Type="http://schemas.openxmlformats.org/officeDocument/2006/relationships/slide" Target="slides/slide15.xml"/><Relationship Id="rId42" Type="http://schemas.openxmlformats.org/officeDocument/2006/relationships/font" Target="fonts/Urbanist-bold.fntdata"/><Relationship Id="rId41" Type="http://schemas.openxmlformats.org/officeDocument/2006/relationships/font" Target="fonts/Urbanist-regular.fntdata"/><Relationship Id="rId22" Type="http://schemas.openxmlformats.org/officeDocument/2006/relationships/slide" Target="slides/slide17.xml"/><Relationship Id="rId44" Type="http://schemas.openxmlformats.org/officeDocument/2006/relationships/font" Target="fonts/Urbanist-boldItalic.fntdata"/><Relationship Id="rId21" Type="http://schemas.openxmlformats.org/officeDocument/2006/relationships/slide" Target="slides/slide16.xml"/><Relationship Id="rId43" Type="http://schemas.openxmlformats.org/officeDocument/2006/relationships/font" Target="fonts/Urbanist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6.xml"/><Relationship Id="rId33" Type="http://schemas.openxmlformats.org/officeDocument/2006/relationships/font" Target="fonts/UrbanistMedium-regular.fntdata"/><Relationship Id="rId10" Type="http://schemas.openxmlformats.org/officeDocument/2006/relationships/slide" Target="slides/slide5.xml"/><Relationship Id="rId32" Type="http://schemas.openxmlformats.org/officeDocument/2006/relationships/font" Target="fonts/Inter-boldItalic.fntdata"/><Relationship Id="rId13" Type="http://schemas.openxmlformats.org/officeDocument/2006/relationships/slide" Target="slides/slide8.xml"/><Relationship Id="rId35" Type="http://schemas.openxmlformats.org/officeDocument/2006/relationships/font" Target="fonts/UrbanistMedium-italic.fntdata"/><Relationship Id="rId12" Type="http://schemas.openxmlformats.org/officeDocument/2006/relationships/slide" Target="slides/slide7.xml"/><Relationship Id="rId34" Type="http://schemas.openxmlformats.org/officeDocument/2006/relationships/font" Target="fonts/UrbanistMedium-bold.fntdata"/><Relationship Id="rId15" Type="http://schemas.openxmlformats.org/officeDocument/2006/relationships/slide" Target="slides/slide10.xml"/><Relationship Id="rId37" Type="http://schemas.openxmlformats.org/officeDocument/2006/relationships/font" Target="fonts/UrbanistSemiBold-regular.fntdata"/><Relationship Id="rId14" Type="http://schemas.openxmlformats.org/officeDocument/2006/relationships/slide" Target="slides/slide9.xml"/><Relationship Id="rId36" Type="http://schemas.openxmlformats.org/officeDocument/2006/relationships/font" Target="fonts/UrbanistMedium-boldItalic.fntdata"/><Relationship Id="rId17" Type="http://schemas.openxmlformats.org/officeDocument/2006/relationships/slide" Target="slides/slide12.xml"/><Relationship Id="rId39" Type="http://schemas.openxmlformats.org/officeDocument/2006/relationships/font" Target="fonts/UrbanistSemiBold-italic.fntdata"/><Relationship Id="rId16" Type="http://schemas.openxmlformats.org/officeDocument/2006/relationships/slide" Target="slides/slide11.xml"/><Relationship Id="rId38" Type="http://schemas.openxmlformats.org/officeDocument/2006/relationships/font" Target="fonts/UrbanistSemiBold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967c0d1695_0_1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967c0d1695_0_1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967c0d1695_0_1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967c0d1695_0_1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967c0d1695_0_1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967c0d1695_0_1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967c0d1695_0_1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967c0d1695_0_1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967c0d1695_0_1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967c0d1695_0_1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967c0d1695_0_1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967c0d1695_0_1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d4069653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d4069653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871102514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871102514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d42c643f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d42c643f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d50c41857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d50c41857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d5660491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d5660491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d50c41857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d50c41857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d48c7926c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d48c7926c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d48c7926c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d48c7926c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d48c7926c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d48c7926c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d57e62317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d57e62317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d5c51044c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d5c51044c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d65db71fd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d65db71fd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d5e56e53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d5e56e53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d5e56e53f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3d5e56e53f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d5e56e53f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d5e56e53f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d48c7926c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d48c7926c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967c0d1695_0_1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967c0d1695_0_1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8" name="Google Shape;68;p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4" name="Google Shape;104;p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7" name="Google Shape;107;p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9" name="Google Shape;109;p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0" name="Google Shape;110;p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2" name="Google Shape;112;p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3" name="Google Shape;113;p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" name="Google Shape;115;p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6" name="Google Shape;116;p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8" name="Google Shape;118;p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25" name="Google Shape;125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1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4" name="Google Shape;144;p1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5" name="Google Shape;145;p1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" name="Google Shape;147;p1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8" name="Google Shape;148;p1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9" name="Google Shape;149;p1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" name="Google Shape;151;p1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2" name="Google Shape;152;p1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3" name="Google Shape;153;p1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" name="Google Shape;155;p1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61" name="Google Shape;161;p11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74" name="Google Shape;174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5" name="Google Shape;175;p1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7" name="Google Shape;187;p1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04" name="Google Shape;204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7" name="Google Shape;207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1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9" name="Google Shape;209;p1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1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1" name="Google Shape;211;p1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2" name="Google Shape;212;p1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1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7" name="Google Shape;217;p1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8" name="Google Shape;218;p1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9" name="Google Shape;219;p1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2" name="Google Shape;252;p1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0" name="Google Shape;260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1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1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1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1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0" name="Google Shape;290;p1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1" name="Google Shape;291;p1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3" name="Google Shape;293;p1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4" name="Google Shape;294;p1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5" name="Google Shape;295;p1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1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1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1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2" name="Google Shape;302;p1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3" name="Google Shape;303;p1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4" name="Google Shape;304;p1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6" name="Google Shape;306;p1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7" name="Google Shape;307;p1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8" name="Google Shape;308;p1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9" name="Google Shape;309;p1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0" name="Google Shape;310;p1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2" name="Google Shape;312;p1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3" name="Google Shape;313;p1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8" name="Google Shape;318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9" name="Google Shape;319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5" name="Google Shape;325;p1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1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1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28" name="Google Shape;328;p1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9" name="Google Shape;329;p1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1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1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2" name="Google Shape;332;p1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5" name="Google Shape;33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3" name="Google Shape;343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4" name="Google Shape;344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4" name="Google Shape;354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5" name="Google Shape;35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2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hyperlink" Target="https://quantum.cloud.ibm.com/composer" TargetMode="External"/><Relationship Id="rId5" Type="http://schemas.openxmlformats.org/officeDocument/2006/relationships/image" Target="../media/image10.png"/><Relationship Id="rId6" Type="http://schemas.openxmlformats.org/officeDocument/2006/relationships/hyperlink" Target="https://encrypted-tbn0.gstatic.com/images?q=tbn:ANd9GcT3erKKsqPT1_J8mIZSJO2prFKPLpZ8BU3R6w&amp;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hyperlink" Target="https://arxiv.org/abs/1306.2164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arxiv.org/abs/1306.2164" TargetMode="External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hyperlink" Target="https://arxiv.org/abs/2007.14822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excalidraw.com/" TargetMode="External"/><Relationship Id="rId4" Type="http://schemas.openxmlformats.org/officeDocument/2006/relationships/hyperlink" Target="https://www.overleaf.com/" TargetMode="External"/><Relationship Id="rId9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27.png"/><Relationship Id="rId8" Type="http://schemas.openxmlformats.org/officeDocument/2006/relationships/image" Target="../media/image18.png"/><Relationship Id="rId10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overleaf.com/" TargetMode="External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hyperlink" Target="https://arxiv.org/abs/2002.01935v4" TargetMode="External"/><Relationship Id="rId5" Type="http://schemas.openxmlformats.org/officeDocument/2006/relationships/image" Target="../media/image17.png"/><Relationship Id="rId6" Type="http://schemas.openxmlformats.org/officeDocument/2006/relationships/hyperlink" Target="https://mermaid.js.org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overleaf.com/" TargetMode="External"/><Relationship Id="rId4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overleaf.com/" TargetMode="External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overleaf.com/" TargetMode="External"/><Relationship Id="rId4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hyperlink" Target="https://www.researchgate.net/figure/Multilevel-graph-partitioning-The-graph-is-recursively-contracted-to-achieve-smaller_fig1_305875072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overleaf.com/" TargetMode="External"/><Relationship Id="rId4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overleaf.com/" TargetMode="External"/><Relationship Id="rId4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Relationship Id="rId4" Type="http://schemas.openxmlformats.org/officeDocument/2006/relationships/hyperlink" Target="https://www.overleaf.com/" TargetMode="External"/><Relationship Id="rId5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overleaf.com/" TargetMode="External"/><Relationship Id="rId4" Type="http://schemas.openxmlformats.org/officeDocument/2006/relationships/hyperlink" Target="https://mermaid.js.org/" TargetMode="External"/><Relationship Id="rId5" Type="http://schemas.openxmlformats.org/officeDocument/2006/relationships/image" Target="../media/image17.png"/><Relationship Id="rId6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github.com/Dpbm/mestrado-aulas/tree/main/algoritmos/projeto-seminario" TargetMode="External"/><Relationship Id="rId4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1"/>
          <p:cNvSpPr txBox="1"/>
          <p:nvPr/>
        </p:nvSpPr>
        <p:spPr>
          <a:xfrm>
            <a:off x="468150" y="457200"/>
            <a:ext cx="7866900" cy="26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TENSOR NETWORKS</a:t>
            </a:r>
            <a:br>
              <a:rPr b="1" lang="en" sz="5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n" sz="5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PARA SIMULAÇÃO DE</a:t>
            </a:r>
            <a:endParaRPr b="1" sz="5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CIRCUITOS QUÂNTICOS</a:t>
            </a:r>
            <a:endParaRPr b="1" sz="5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8" name="Google Shape;438;p41"/>
          <p:cNvSpPr txBox="1"/>
          <p:nvPr/>
        </p:nvSpPr>
        <p:spPr>
          <a:xfrm>
            <a:off x="541800" y="3013375"/>
            <a:ext cx="31989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Alexandre Silva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2"/>
          <p:cNvSpPr txBox="1"/>
          <p:nvPr/>
        </p:nvSpPr>
        <p:spPr>
          <a:xfrm>
            <a:off x="519600" y="296875"/>
            <a:ext cx="8104800" cy="8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Roteiro:</a:t>
            </a:r>
            <a:endParaRPr sz="3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4" name="Google Shape;444;p42"/>
          <p:cNvSpPr txBox="1"/>
          <p:nvPr/>
        </p:nvSpPr>
        <p:spPr>
          <a:xfrm>
            <a:off x="519600" y="1165375"/>
            <a:ext cx="7837800" cy="3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nter"/>
              <a:buAutoNum type="arabicPeriod"/>
            </a:pPr>
            <a:r>
              <a:rPr lang="en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Contextualização sobre computação quântica;</a:t>
            </a:r>
            <a:endParaRPr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nter"/>
              <a:buAutoNum type="arabicPeriod"/>
            </a:pPr>
            <a:r>
              <a:rPr lang="en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Entendendo o problema;</a:t>
            </a:r>
            <a:endParaRPr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nter"/>
              <a:buAutoNum type="arabicPeriod"/>
            </a:pPr>
            <a:r>
              <a:rPr lang="en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Entendendo Tensor Networks;</a:t>
            </a:r>
            <a:endParaRPr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nter"/>
              <a:buAutoNum type="arabicPeriod"/>
            </a:pPr>
            <a:r>
              <a:rPr lang="en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Algoritmo em si + Análises.</a:t>
            </a:r>
            <a:endParaRPr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3"/>
          <p:cNvSpPr txBox="1"/>
          <p:nvPr/>
        </p:nvSpPr>
        <p:spPr>
          <a:xfrm>
            <a:off x="519600" y="296875"/>
            <a:ext cx="8104800" cy="8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 que é a Computação Quântica?</a:t>
            </a:r>
            <a:endParaRPr sz="3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0" name="Google Shape;450;p43"/>
          <p:cNvSpPr txBox="1"/>
          <p:nvPr/>
        </p:nvSpPr>
        <p:spPr>
          <a:xfrm>
            <a:off x="519600" y="1165375"/>
            <a:ext cx="7837800" cy="36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nter"/>
              <a:buChar char="●"/>
            </a:pPr>
            <a:r>
              <a:rPr lang="en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Utilizar a Mecânica Quântica para realizar computações;</a:t>
            </a:r>
            <a:endParaRPr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nter"/>
              <a:buChar char="●"/>
            </a:pPr>
            <a:r>
              <a:rPr lang="en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Âtomos, partículas, fótons, elétrons, etc;</a:t>
            </a:r>
            <a:endParaRPr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nter"/>
              <a:buChar char="●"/>
            </a:pPr>
            <a:r>
              <a:rPr lang="en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Possibilidade de avanços;</a:t>
            </a:r>
            <a:endParaRPr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Inter"/>
              <a:buChar char="○"/>
            </a:pPr>
            <a:r>
              <a:rPr lang="en" sz="2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Medicina, Farmácia, Criptografia, Machine Learning, etc.</a:t>
            </a:r>
            <a:endParaRPr sz="2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44" title="circuit.png"/>
          <p:cNvPicPr preferRelativeResize="0"/>
          <p:nvPr/>
        </p:nvPicPr>
        <p:blipFill rotWithShape="1">
          <a:blip r:embed="rId3">
            <a:alphaModFix/>
          </a:blip>
          <a:srcRect b="19443" l="8551" r="5331" t="10440"/>
          <a:stretch/>
        </p:blipFill>
        <p:spPr>
          <a:xfrm>
            <a:off x="3773213" y="1566175"/>
            <a:ext cx="3149875" cy="160285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44"/>
          <p:cNvSpPr txBox="1"/>
          <p:nvPr/>
        </p:nvSpPr>
        <p:spPr>
          <a:xfrm>
            <a:off x="3773213" y="3169025"/>
            <a:ext cx="36576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Fonte: Autoria pr</a:t>
            </a: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ó</a:t>
            </a: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pria via </a:t>
            </a:r>
            <a:r>
              <a:rPr lang="en" sz="10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IBM Quantum Composer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7" name="Google Shape;457;p44"/>
          <p:cNvSpPr txBox="1"/>
          <p:nvPr/>
        </p:nvSpPr>
        <p:spPr>
          <a:xfrm>
            <a:off x="287075" y="1165375"/>
            <a:ext cx="3604500" cy="2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Inter"/>
              <a:buChar char="●"/>
            </a:pPr>
            <a:r>
              <a:rPr lang="en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Modelo de Circuito </a:t>
            </a:r>
            <a:r>
              <a:rPr lang="en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é o</a:t>
            </a:r>
            <a:r>
              <a:rPr lang="en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mais usado;</a:t>
            </a:r>
            <a:endParaRPr sz="2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Char char="●"/>
            </a:pPr>
            <a:r>
              <a:rPr lang="en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Portas são matrizes (operadores);</a:t>
            </a:r>
            <a:endParaRPr sz="2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Char char="●"/>
            </a:pPr>
            <a:r>
              <a:rPr lang="en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Linhas são qubits (vetores);</a:t>
            </a:r>
            <a:endParaRPr sz="2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Inter"/>
              <a:buChar char="●"/>
            </a:pPr>
            <a:r>
              <a:rPr lang="en" sz="23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Matrizes evoluem o estado (vetor).</a:t>
            </a:r>
            <a:endParaRPr sz="23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8" name="Google Shape;458;p44"/>
          <p:cNvSpPr txBox="1"/>
          <p:nvPr/>
        </p:nvSpPr>
        <p:spPr>
          <a:xfrm>
            <a:off x="519600" y="296875"/>
            <a:ext cx="8104800" cy="8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Modelo de Computação Quântica</a:t>
            </a:r>
            <a:endParaRPr sz="3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59" name="Google Shape;459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47013" y="1165375"/>
            <a:ext cx="1876425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44"/>
          <p:cNvSpPr txBox="1"/>
          <p:nvPr/>
        </p:nvSpPr>
        <p:spPr>
          <a:xfrm>
            <a:off x="6908044" y="3603775"/>
            <a:ext cx="19596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Fonte: </a:t>
            </a:r>
            <a:r>
              <a:rPr lang="en" sz="10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ResearchGate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5"/>
          <p:cNvSpPr txBox="1"/>
          <p:nvPr/>
        </p:nvSpPr>
        <p:spPr>
          <a:xfrm>
            <a:off x="519600" y="296875"/>
            <a:ext cx="8104800" cy="8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Problema</a:t>
            </a:r>
            <a:endParaRPr sz="3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6" name="Google Shape;466;p45"/>
          <p:cNvSpPr txBox="1"/>
          <p:nvPr/>
        </p:nvSpPr>
        <p:spPr>
          <a:xfrm>
            <a:off x="519600" y="1028700"/>
            <a:ext cx="8395800" cy="26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Char char="●"/>
            </a:pPr>
            <a:r>
              <a:rPr lang="en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Computadores Quânticos ainda são limitados - Noisy Intermediate-Scale Quantum (NISQ);</a:t>
            </a:r>
            <a:endParaRPr sz="2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Char char="●"/>
            </a:pPr>
            <a:r>
              <a:rPr lang="en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Solução → Simulações para validar os algoritmos (HPC);</a:t>
            </a:r>
            <a:endParaRPr sz="2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Char char="●"/>
            </a:pPr>
            <a:r>
              <a:rPr lang="en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Simulações são custosas;</a:t>
            </a:r>
            <a:endParaRPr sz="2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Char char="○"/>
            </a:pPr>
            <a:r>
              <a:rPr lang="en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Possibilidade de estados cresce a N = 2</a:t>
            </a:r>
            <a:r>
              <a:rPr baseline="30000" lang="en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;</a:t>
            </a:r>
            <a:endParaRPr sz="2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Char char="○"/>
            </a:pPr>
            <a:r>
              <a:rPr lang="en" sz="2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40 qubits -&gt; 2⁴⁰ ✕ 2³ bytes (float) = 2⁴³ bytes = 8Tb.</a:t>
            </a:r>
            <a:endParaRPr sz="2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67" name="Google Shape;467;p45" title="Wed Apr  8 02:16:16 PM -03 20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1800" y="3337800"/>
            <a:ext cx="6086475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45"/>
          <p:cNvSpPr txBox="1"/>
          <p:nvPr/>
        </p:nvSpPr>
        <p:spPr>
          <a:xfrm>
            <a:off x="2888688" y="4398325"/>
            <a:ext cx="36576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Fonte: 	</a:t>
            </a:r>
            <a:r>
              <a:rPr lang="en" sz="12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arXiv:1306.2164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6"/>
          <p:cNvSpPr txBox="1"/>
          <p:nvPr/>
        </p:nvSpPr>
        <p:spPr>
          <a:xfrm>
            <a:off x="390750" y="296875"/>
            <a:ext cx="8233800" cy="8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Tensor Networks</a:t>
            </a:r>
            <a:endParaRPr sz="3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4" name="Google Shape;474;p46"/>
          <p:cNvSpPr txBox="1"/>
          <p:nvPr/>
        </p:nvSpPr>
        <p:spPr>
          <a:xfrm>
            <a:off x="390750" y="1028700"/>
            <a:ext cx="4181400" cy="3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●"/>
            </a:pPr>
            <a:r>
              <a:rPr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Tensor → Generalização de escalares, vetores, matrizes, etc;</a:t>
            </a:r>
            <a:endParaRPr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●"/>
            </a:pPr>
            <a:r>
              <a:rPr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Aproximação do estado;</a:t>
            </a:r>
            <a:endParaRPr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●"/>
            </a:pPr>
            <a:r>
              <a:rPr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Aplicar operações conforme necessário;</a:t>
            </a:r>
            <a:endParaRPr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●"/>
            </a:pPr>
            <a:r>
              <a:rPr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Tensors menores consomem menos memória;</a:t>
            </a:r>
            <a:endParaRPr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●"/>
            </a:pPr>
            <a:r>
              <a:rPr lang="en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Paralelizáveis.</a:t>
            </a:r>
            <a:endParaRPr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5" name="Google Shape;475;p46"/>
          <p:cNvSpPr txBox="1"/>
          <p:nvPr/>
        </p:nvSpPr>
        <p:spPr>
          <a:xfrm>
            <a:off x="5369646" y="3881276"/>
            <a:ext cx="2877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71925" lIns="71925" spcFirstLastPara="1" rIns="71925" wrap="square" tIns="71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44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Fonte: 	</a:t>
            </a:r>
            <a:r>
              <a:rPr lang="en" sz="1244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arXiv:1306.2164</a:t>
            </a:r>
            <a:endParaRPr sz="1244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476" name="Google Shape;476;p46" title="Wed Apr  8 02:24:49 PM -03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4800" y="1165375"/>
            <a:ext cx="4086781" cy="2629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7"/>
          <p:cNvSpPr txBox="1"/>
          <p:nvPr/>
        </p:nvSpPr>
        <p:spPr>
          <a:xfrm>
            <a:off x="519600" y="296875"/>
            <a:ext cx="8104800" cy="8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Principal Operação</a:t>
            </a:r>
            <a:endParaRPr sz="3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2" name="Google Shape;482;p47"/>
          <p:cNvSpPr txBox="1"/>
          <p:nvPr/>
        </p:nvSpPr>
        <p:spPr>
          <a:xfrm>
            <a:off x="519600" y="1076550"/>
            <a:ext cx="40524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Inter"/>
              <a:buChar char="●"/>
            </a:pPr>
            <a:r>
              <a:rPr lang="en" sz="2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Contrações (Unir tensors);</a:t>
            </a:r>
            <a:endParaRPr sz="2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Inter"/>
              <a:buChar char="○"/>
            </a:pPr>
            <a:r>
              <a:rPr lang="en" sz="2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Sequência de contrações modifica o custo;</a:t>
            </a:r>
            <a:endParaRPr sz="2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Inter"/>
              <a:buChar char="■"/>
            </a:pPr>
            <a:r>
              <a:rPr lang="en" sz="2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Mais índices mais operações e dimensões.</a:t>
            </a:r>
            <a:endParaRPr sz="2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83" name="Google Shape;483;p47" title="t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6450" y="1165375"/>
            <a:ext cx="4355975" cy="250285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47"/>
          <p:cNvSpPr txBox="1"/>
          <p:nvPr/>
        </p:nvSpPr>
        <p:spPr>
          <a:xfrm>
            <a:off x="5761339" y="3777738"/>
            <a:ext cx="21054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52625" lIns="52625" spcFirstLastPara="1" rIns="52625" wrap="square" tIns="52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Fonte: 	</a:t>
            </a:r>
            <a:r>
              <a:rPr lang="en" sz="12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arXiv:2007.14822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8"/>
          <p:cNvSpPr txBox="1"/>
          <p:nvPr/>
        </p:nvSpPr>
        <p:spPr>
          <a:xfrm>
            <a:off x="2871775" y="4377900"/>
            <a:ext cx="36576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Fonte: Criaç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ão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própria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via </a:t>
            </a:r>
            <a:r>
              <a:rPr lang="en" sz="12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Excalidraw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e </a:t>
            </a:r>
            <a:r>
              <a:rPr lang="en" sz="12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Overleaf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490" name="Google Shape;490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5250" y="638950"/>
            <a:ext cx="4107900" cy="147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48" title="Wed Apr  8 03:19:35 PM -03 2026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5250" y="2824800"/>
            <a:ext cx="20574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48" title="Wed Apr  8 03:26:19 PM -03 2026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34113" y="945800"/>
            <a:ext cx="120967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48" title="Wed Apr  8 03:26:23 PM -03 202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43800" y="874362"/>
            <a:ext cx="2333625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48" title="Wed Apr  8 03:31:02 PM -03 2026.png"/>
          <p:cNvPicPr preferRelativeResize="0"/>
          <p:nvPr/>
        </p:nvPicPr>
        <p:blipFill rotWithShape="1">
          <a:blip r:embed="rId9">
            <a:alphaModFix/>
          </a:blip>
          <a:srcRect b="7362" l="2714" r="1739" t="5613"/>
          <a:stretch/>
        </p:blipFill>
        <p:spPr>
          <a:xfrm>
            <a:off x="2842612" y="2743825"/>
            <a:ext cx="3628268" cy="1000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5" name="Google Shape;495;p48"/>
          <p:cNvCxnSpPr>
            <a:stCxn id="491" idx="3"/>
            <a:endCxn id="494" idx="1"/>
          </p:cNvCxnSpPr>
          <p:nvPr/>
        </p:nvCxnSpPr>
        <p:spPr>
          <a:xfrm>
            <a:off x="2512650" y="3243900"/>
            <a:ext cx="330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96" name="Google Shape;496;p48" title="Wed Apr  8 03:34:00 PM -03 2026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800825" y="2734312"/>
            <a:ext cx="1790700" cy="1019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7" name="Google Shape;497;p48"/>
          <p:cNvCxnSpPr/>
          <p:nvPr/>
        </p:nvCxnSpPr>
        <p:spPr>
          <a:xfrm>
            <a:off x="1031675" y="2115300"/>
            <a:ext cx="0" cy="72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8" name="Google Shape;498;p48"/>
          <p:cNvCxnSpPr>
            <a:stCxn id="494" idx="3"/>
            <a:endCxn id="496" idx="1"/>
          </p:cNvCxnSpPr>
          <p:nvPr/>
        </p:nvCxnSpPr>
        <p:spPr>
          <a:xfrm>
            <a:off x="6470880" y="3243887"/>
            <a:ext cx="330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9"/>
          <p:cNvSpPr txBox="1"/>
          <p:nvPr/>
        </p:nvSpPr>
        <p:spPr>
          <a:xfrm>
            <a:off x="519600" y="296875"/>
            <a:ext cx="81048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Custo de operações</a:t>
            </a:r>
            <a:endParaRPr sz="3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4" name="Google Shape;504;p49"/>
          <p:cNvSpPr txBox="1"/>
          <p:nvPr/>
        </p:nvSpPr>
        <p:spPr>
          <a:xfrm>
            <a:off x="519600" y="1092475"/>
            <a:ext cx="4052700" cy="3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Char char="●"/>
            </a:pPr>
            <a:r>
              <a:rPr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Medido em FLOPs;</a:t>
            </a:r>
            <a:endParaRPr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Char char="●"/>
            </a:pPr>
            <a:r>
              <a:rPr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Physical Dimensions (d);</a:t>
            </a:r>
            <a:endParaRPr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Char char="○"/>
            </a:pPr>
            <a:r>
              <a:rPr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Valores binários do sistema;</a:t>
            </a:r>
            <a:endParaRPr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Char char="○"/>
            </a:pPr>
            <a:r>
              <a:rPr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Constante;</a:t>
            </a:r>
            <a:endParaRPr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Char char="●"/>
            </a:pPr>
            <a:r>
              <a:rPr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Bond dimensions (D);</a:t>
            </a:r>
            <a:endParaRPr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Char char="○"/>
            </a:pPr>
            <a:r>
              <a:rPr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Quantidade de entanglements (ligações);</a:t>
            </a:r>
            <a:endParaRPr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Char char="○"/>
            </a:pPr>
            <a:r>
              <a:rPr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Quanto mais melhor a aproximação do estado, mas mais custoso → cresce 2</a:t>
            </a:r>
            <a:r>
              <a:rPr baseline="30000"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;</a:t>
            </a:r>
            <a:endParaRPr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Char char="○"/>
            </a:pPr>
            <a:r>
              <a:rPr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Contrações alteram o tamanho.</a:t>
            </a:r>
            <a:endParaRPr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05" name="Google Shape;505;p49" title="Wed Apr  8 03:31:02 PM -03 2026.png"/>
          <p:cNvPicPr preferRelativeResize="0"/>
          <p:nvPr/>
        </p:nvPicPr>
        <p:blipFill rotWithShape="1">
          <a:blip r:embed="rId3">
            <a:alphaModFix/>
          </a:blip>
          <a:srcRect b="7362" l="2714" r="1739" t="5613"/>
          <a:stretch/>
        </p:blipFill>
        <p:spPr>
          <a:xfrm>
            <a:off x="4522975" y="1531098"/>
            <a:ext cx="4394251" cy="121126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49"/>
          <p:cNvSpPr txBox="1"/>
          <p:nvPr/>
        </p:nvSpPr>
        <p:spPr>
          <a:xfrm>
            <a:off x="4965850" y="2802852"/>
            <a:ext cx="3693900" cy="9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76075" lIns="76075" spcFirstLastPara="1" rIns="76075" wrap="square" tIns="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3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 = 2</a:t>
            </a:r>
            <a:endParaRPr b="1" sz="233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3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O(d) * O(d) = O(d</a:t>
            </a:r>
            <a:r>
              <a:rPr b="1" baseline="30000" lang="en" sz="233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r>
              <a:rPr b="1" lang="en" sz="233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 b="1" sz="233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3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FLOPs = d (2d - 1)</a:t>
            </a:r>
            <a:endParaRPr b="1" sz="233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0"/>
          <p:cNvSpPr txBox="1"/>
          <p:nvPr/>
        </p:nvSpPr>
        <p:spPr>
          <a:xfrm>
            <a:off x="519600" y="296875"/>
            <a:ext cx="81048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Passos para Simular o Circuito</a:t>
            </a:r>
            <a:endParaRPr sz="3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2" name="Google Shape;512;p50"/>
          <p:cNvSpPr txBox="1"/>
          <p:nvPr/>
        </p:nvSpPr>
        <p:spPr>
          <a:xfrm>
            <a:off x="558450" y="1090675"/>
            <a:ext cx="7933200" cy="3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AutoNum type="arabicPeriod"/>
            </a:pPr>
            <a:r>
              <a:rPr lang="en" sz="2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Definição da rede (circuito);</a:t>
            </a:r>
            <a:endParaRPr sz="2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AutoNum type="arabicPeriod"/>
            </a:pPr>
            <a:r>
              <a:rPr lang="en" sz="2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Simplificação da rede;</a:t>
            </a:r>
            <a:endParaRPr sz="2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AutoNum type="arabicPeriod"/>
            </a:pPr>
            <a:r>
              <a:rPr lang="en" sz="2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Busca pelo melhor caminho de contração;</a:t>
            </a:r>
            <a:endParaRPr sz="2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AutoNum type="arabicPeriod"/>
            </a:pPr>
            <a:r>
              <a:rPr lang="en" sz="2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Aplicação das contrações → resultado.</a:t>
            </a:r>
            <a:endParaRPr sz="2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Obs: Grafos são dispersos (circuitos não são completamente interligados) e networks de formatos desconhecidos.</a:t>
            </a:r>
            <a:endParaRPr sz="2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1"/>
          <p:cNvSpPr txBox="1"/>
          <p:nvPr/>
        </p:nvSpPr>
        <p:spPr>
          <a:xfrm>
            <a:off x="519600" y="296875"/>
            <a:ext cx="81048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1 Simplificação</a:t>
            </a:r>
            <a:endParaRPr sz="3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8" name="Google Shape;518;p51"/>
          <p:cNvSpPr txBox="1"/>
          <p:nvPr/>
        </p:nvSpPr>
        <p:spPr>
          <a:xfrm>
            <a:off x="374800" y="948950"/>
            <a:ext cx="4497600" cy="3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Char char="●"/>
            </a:pPr>
            <a:r>
              <a:rPr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Depende da estrutura da rede;</a:t>
            </a:r>
            <a:endParaRPr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Char char="●"/>
            </a:pPr>
            <a:r>
              <a:rPr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Simplificações -&gt; Absorção de tensors, SVD, etc. Tidos como ≈ O(1) (tempo);</a:t>
            </a:r>
            <a:endParaRPr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Char char="●"/>
            </a:pPr>
            <a:r>
              <a:rPr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Complexidade tempo:</a:t>
            </a:r>
            <a:endParaRPr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Char char="○"/>
            </a:pPr>
            <a:r>
              <a:rPr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O(d x n) ≈ O(n);</a:t>
            </a:r>
            <a:endParaRPr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Char char="○"/>
            </a:pPr>
            <a:r>
              <a:rPr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(passos) é pequeno</a:t>
            </a:r>
            <a:r>
              <a:rPr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;</a:t>
            </a:r>
            <a:endParaRPr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Char char="○"/>
            </a:pPr>
            <a:r>
              <a:rPr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nodes n é mais expressivo;</a:t>
            </a:r>
            <a:endParaRPr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Char char="●"/>
            </a:pPr>
            <a:r>
              <a:rPr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Espaço:</a:t>
            </a:r>
            <a:endParaRPr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Inter"/>
              <a:buChar char="○"/>
            </a:pPr>
            <a:r>
              <a:rPr lang="en" sz="1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Armazenamento reduz a cada iteração.</a:t>
            </a:r>
            <a:endParaRPr sz="19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9" name="Google Shape;519;p51"/>
          <p:cNvSpPr txBox="1"/>
          <p:nvPr/>
        </p:nvSpPr>
        <p:spPr>
          <a:xfrm>
            <a:off x="5137478" y="4060589"/>
            <a:ext cx="34245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5600" lIns="85600" spcFirstLastPara="1" rIns="85600" wrap="square" tIns="8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24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Fonte: Criação própria via </a:t>
            </a:r>
            <a:r>
              <a:rPr lang="en" sz="1124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Overleaf</a:t>
            </a:r>
            <a:endParaRPr sz="1124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20" name="Google Shape;520;p51" title="Wed Apr 15 08:42:07 PM -03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6375" y="1454975"/>
            <a:ext cx="3666708" cy="2241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2"/>
          <p:cNvSpPr txBox="1"/>
          <p:nvPr/>
        </p:nvSpPr>
        <p:spPr>
          <a:xfrm>
            <a:off x="519600" y="296875"/>
            <a:ext cx="83241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2 </a:t>
            </a:r>
            <a:r>
              <a:rPr lang="en" sz="2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Busca pelo melhor caminho de contração (Hyper-Par)</a:t>
            </a:r>
            <a:endParaRPr sz="2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6" name="Google Shape;526;p52"/>
          <p:cNvSpPr txBox="1"/>
          <p:nvPr/>
        </p:nvSpPr>
        <p:spPr>
          <a:xfrm>
            <a:off x="350950" y="1323750"/>
            <a:ext cx="3186600" cy="30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Repartição de subárvores;</a:t>
            </a:r>
            <a:endParaRPr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Algoritmos ótimos nas subárvores (Optimal/Greedy) → Problemas menores;</a:t>
            </a:r>
            <a:endParaRPr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Parâmetros de balanceamento (ε), repartições (k) e cut-off;</a:t>
            </a:r>
            <a:endParaRPr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○"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Sample de parâmetros.</a:t>
            </a:r>
            <a:endParaRPr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27" name="Google Shape;527;p52" title="Thu Apr  9 11:17:06 AM -03 2026.png"/>
          <p:cNvPicPr preferRelativeResize="0"/>
          <p:nvPr/>
        </p:nvPicPr>
        <p:blipFill rotWithShape="1">
          <a:blip r:embed="rId3">
            <a:alphaModFix/>
          </a:blip>
          <a:srcRect b="0" l="0" r="0" t="3148"/>
          <a:stretch/>
        </p:blipFill>
        <p:spPr>
          <a:xfrm>
            <a:off x="3537500" y="1562975"/>
            <a:ext cx="2552774" cy="2339226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52"/>
          <p:cNvSpPr txBox="1"/>
          <p:nvPr/>
        </p:nvSpPr>
        <p:spPr>
          <a:xfrm>
            <a:off x="2985088" y="3902200"/>
            <a:ext cx="3657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Fonte: </a:t>
            </a:r>
            <a:r>
              <a:rPr lang="en" sz="10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arXiv:2002.01935v4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29" name="Google Shape;529;p52" title="Thu Apr  9 12:54:17 PM -03 2026.png"/>
          <p:cNvPicPr preferRelativeResize="0"/>
          <p:nvPr/>
        </p:nvPicPr>
        <p:blipFill rotWithShape="1">
          <a:blip r:embed="rId5">
            <a:alphaModFix/>
          </a:blip>
          <a:srcRect b="0" l="9206" r="3113" t="0"/>
          <a:stretch/>
        </p:blipFill>
        <p:spPr>
          <a:xfrm>
            <a:off x="6222515" y="1596987"/>
            <a:ext cx="2692860" cy="2305225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52"/>
          <p:cNvSpPr txBox="1"/>
          <p:nvPr/>
        </p:nvSpPr>
        <p:spPr>
          <a:xfrm>
            <a:off x="5637900" y="3872350"/>
            <a:ext cx="36576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Fonte: Criação própria via </a:t>
            </a:r>
            <a:r>
              <a:rPr lang="en" sz="10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Mermaid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3"/>
          <p:cNvSpPr txBox="1"/>
          <p:nvPr/>
        </p:nvSpPr>
        <p:spPr>
          <a:xfrm>
            <a:off x="4891288" y="4186050"/>
            <a:ext cx="36576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Fonte: Criação própria via </a:t>
            </a:r>
            <a:r>
              <a:rPr lang="en" sz="12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Overleaf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6" name="Google Shape;536;p53"/>
          <p:cNvSpPr txBox="1"/>
          <p:nvPr/>
        </p:nvSpPr>
        <p:spPr>
          <a:xfrm>
            <a:off x="558200" y="861825"/>
            <a:ext cx="4162800" cy="3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Urbanist"/>
              <a:buChar char="●"/>
            </a:pP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Complexidade Tempo:</a:t>
            </a:r>
            <a:endParaRPr sz="2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Urbanist"/>
              <a:buChar char="○"/>
            </a:pP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O(k * ε * cut * (V + cost));</a:t>
            </a:r>
            <a:endParaRPr sz="2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83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Urbanist"/>
              <a:buChar char="■"/>
            </a:pP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O(V + cost);</a:t>
            </a:r>
            <a:endParaRPr sz="2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Urbanist"/>
              <a:buChar char="○"/>
            </a:pP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Partition é a parte mais custosa;</a:t>
            </a:r>
            <a:endParaRPr sz="2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Urbanist"/>
              <a:buChar char="○"/>
            </a:pP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Custo é O(n) → calcula o custo de cada nó e soma;</a:t>
            </a:r>
            <a:endParaRPr sz="2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Urbanist"/>
              <a:buChar char="●"/>
            </a:pP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Complexidade Espaço:</a:t>
            </a:r>
            <a:endParaRPr sz="2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Urbanist"/>
              <a:buChar char="○"/>
            </a:pP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O(n) → tamanho do grafo.</a:t>
            </a:r>
            <a:endParaRPr sz="2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7" name="Google Shape;537;p53"/>
          <p:cNvSpPr txBox="1"/>
          <p:nvPr/>
        </p:nvSpPr>
        <p:spPr>
          <a:xfrm>
            <a:off x="519600" y="228600"/>
            <a:ext cx="81048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2.1 </a:t>
            </a:r>
            <a:r>
              <a:rPr lang="en" sz="2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Hyper-Par Algoritmo</a:t>
            </a:r>
            <a:endParaRPr sz="2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38" name="Google Shape;538;p53" title="Wed Apr 15 08:42:30 PM -03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2725" y="1463438"/>
            <a:ext cx="3714750" cy="220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4"/>
          <p:cNvSpPr txBox="1"/>
          <p:nvPr/>
        </p:nvSpPr>
        <p:spPr>
          <a:xfrm>
            <a:off x="4891288" y="4090350"/>
            <a:ext cx="36576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Fonte: Criação própria via </a:t>
            </a:r>
            <a:r>
              <a:rPr lang="en" sz="12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Overleaf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4" name="Google Shape;544;p54"/>
          <p:cNvSpPr txBox="1"/>
          <p:nvPr/>
        </p:nvSpPr>
        <p:spPr>
          <a:xfrm>
            <a:off x="366825" y="813450"/>
            <a:ext cx="4488900" cy="3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Urbanist"/>
              <a:buChar char="●"/>
            </a:pP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Criação da árvore via recursão (bipartição);</a:t>
            </a:r>
            <a:endParaRPr sz="2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Urbanist"/>
              <a:buChar char="●"/>
            </a:pP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Complexidade Tempo:</a:t>
            </a:r>
            <a:endParaRPr sz="2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Urbanist"/>
              <a:buChar char="○"/>
            </a:pP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KaHyPar sempre executa;</a:t>
            </a:r>
            <a:endParaRPr sz="2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Urbanist"/>
              <a:buChar char="○"/>
            </a:pP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Opt é custoso (quando n grande);</a:t>
            </a:r>
            <a:endParaRPr sz="2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Urbanist"/>
              <a:buChar char="○"/>
            </a:pP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j * </a:t>
            </a: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O(KaHyPar)</a:t>
            </a: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+ h* O(Opt)</a:t>
            </a:r>
            <a:endParaRPr sz="2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83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Urbanist"/>
              <a:buChar char="■"/>
            </a:pP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O(KaHyPar);</a:t>
            </a:r>
            <a:endParaRPr sz="2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Urbanist"/>
              <a:buChar char="●"/>
            </a:pP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Complexidade Espaço:</a:t>
            </a:r>
            <a:endParaRPr sz="2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Urbanist"/>
              <a:buChar char="○"/>
            </a:pP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O(n) → children (todos os nós);</a:t>
            </a:r>
            <a:endParaRPr sz="2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45" name="Google Shape;545;p54" title="Wed Apr 15 08:43:32 PM -03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1850" y="349700"/>
            <a:ext cx="3983551" cy="3740651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54"/>
          <p:cNvSpPr txBox="1"/>
          <p:nvPr/>
        </p:nvSpPr>
        <p:spPr>
          <a:xfrm>
            <a:off x="472650" y="228600"/>
            <a:ext cx="81048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2.2 Partiç</a:t>
            </a:r>
            <a:r>
              <a:rPr lang="en" sz="2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ão</a:t>
            </a:r>
            <a:endParaRPr sz="2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5"/>
          <p:cNvSpPr txBox="1"/>
          <p:nvPr/>
        </p:nvSpPr>
        <p:spPr>
          <a:xfrm>
            <a:off x="4985238" y="4479575"/>
            <a:ext cx="36576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Fonte: Criação própria via </a:t>
            </a:r>
            <a:r>
              <a:rPr lang="en" sz="12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Overleaf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2" name="Google Shape;552;p55"/>
          <p:cNvSpPr txBox="1"/>
          <p:nvPr/>
        </p:nvSpPr>
        <p:spPr>
          <a:xfrm>
            <a:off x="423875" y="803075"/>
            <a:ext cx="4735500" cy="40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"/>
              <a:buChar char="●"/>
            </a:pPr>
            <a:r>
              <a:rPr lang="en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Calcula o custo de cada nó;</a:t>
            </a:r>
            <a:endParaRPr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"/>
              <a:buChar char="●"/>
            </a:pPr>
            <a:r>
              <a:rPr lang="en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Probabilidade de escolher um pior;</a:t>
            </a:r>
            <a:endParaRPr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"/>
              <a:buChar char="●"/>
            </a:pPr>
            <a:r>
              <a:rPr lang="en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Complexidade tempo:</a:t>
            </a:r>
            <a:endParaRPr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"/>
              <a:buChar char="○"/>
            </a:pPr>
            <a:r>
              <a:rPr lang="en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O(n³);</a:t>
            </a:r>
            <a:endParaRPr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"/>
              <a:buChar char="●"/>
            </a:pPr>
            <a:r>
              <a:rPr lang="en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Complexidade espaço:</a:t>
            </a:r>
            <a:endParaRPr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"/>
              <a:buChar char="○"/>
            </a:pPr>
            <a:r>
              <a:rPr lang="en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O(n</a:t>
            </a:r>
            <a:r>
              <a:rPr baseline="30000" lang="en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r>
              <a:rPr lang="en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) → pares;</a:t>
            </a:r>
            <a:endParaRPr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"/>
              <a:buChar char="●"/>
            </a:pPr>
            <a:r>
              <a:rPr lang="en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 deve ser pequeno.</a:t>
            </a:r>
            <a:endParaRPr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3" name="Google Shape;553;p55"/>
          <p:cNvSpPr txBox="1"/>
          <p:nvPr/>
        </p:nvSpPr>
        <p:spPr>
          <a:xfrm>
            <a:off x="279125" y="189250"/>
            <a:ext cx="747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2.3 Hyper-Greedy Opt.</a:t>
            </a:r>
            <a:endParaRPr sz="2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54" name="Google Shape;554;p55" title="Wed Apr 15 08:44:00 PM -03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7675" y="397375"/>
            <a:ext cx="2852750" cy="4013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6"/>
          <p:cNvSpPr txBox="1"/>
          <p:nvPr/>
        </p:nvSpPr>
        <p:spPr>
          <a:xfrm>
            <a:off x="781175" y="738775"/>
            <a:ext cx="3537000" cy="35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60" name="Google Shape;56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8150" y="1574563"/>
            <a:ext cx="4521026" cy="1994382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56"/>
          <p:cNvSpPr txBox="1"/>
          <p:nvPr/>
        </p:nvSpPr>
        <p:spPr>
          <a:xfrm>
            <a:off x="4749875" y="3532350"/>
            <a:ext cx="36576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Fonte: </a:t>
            </a:r>
            <a:r>
              <a:rPr lang="en" sz="12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ResearchGate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2" name="Google Shape;562;p56"/>
          <p:cNvSpPr txBox="1"/>
          <p:nvPr/>
        </p:nvSpPr>
        <p:spPr>
          <a:xfrm>
            <a:off x="366825" y="413350"/>
            <a:ext cx="3951300" cy="39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Urbanist"/>
              <a:buChar char="●"/>
            </a:pP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Multilevel graph partitioning (KaHyPar);</a:t>
            </a:r>
            <a:endParaRPr sz="2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83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Urbanist"/>
              <a:buAutoNum type="arabicPeriod"/>
            </a:pP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Reduz o grafo;</a:t>
            </a:r>
            <a:endParaRPr sz="2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83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Urbanist"/>
              <a:buAutoNum type="arabicPeriod"/>
            </a:pP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Particiona;</a:t>
            </a:r>
            <a:endParaRPr sz="2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83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Urbanist"/>
              <a:buAutoNum type="arabicPeriod"/>
            </a:pP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Realiza o caminho inverso;</a:t>
            </a:r>
            <a:endParaRPr sz="2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Urbanist"/>
              <a:buChar char="●"/>
            </a:pP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Na pr</a:t>
            </a: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ática:</a:t>
            </a:r>
            <a:endParaRPr sz="2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83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Urbanist"/>
              <a:buChar char="●"/>
            </a:pP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Usa m</a:t>
            </a: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ú</a:t>
            </a: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lti</a:t>
            </a: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plos algoritmos (Portifólio);</a:t>
            </a:r>
            <a:endParaRPr sz="2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83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Urbanist"/>
              <a:buChar char="●"/>
            </a:pP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Hypergraphs</a:t>
            </a: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;</a:t>
            </a:r>
            <a:endParaRPr sz="2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83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Urbanist"/>
              <a:buChar char="●"/>
            </a:pP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Pré-processamento e </a:t>
            </a: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otimização</a:t>
            </a:r>
            <a:r>
              <a:rPr lang="en" sz="2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2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57"/>
          <p:cNvSpPr txBox="1"/>
          <p:nvPr/>
        </p:nvSpPr>
        <p:spPr>
          <a:xfrm>
            <a:off x="4891288" y="4650950"/>
            <a:ext cx="36576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Fonte: Criação própria via </a:t>
            </a:r>
            <a:r>
              <a:rPr lang="en" sz="12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Overleaf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8" name="Google Shape;568;p57"/>
          <p:cNvSpPr txBox="1"/>
          <p:nvPr/>
        </p:nvSpPr>
        <p:spPr>
          <a:xfrm>
            <a:off x="2423700" y="885150"/>
            <a:ext cx="2711100" cy="9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Tempo = O(e</a:t>
            </a:r>
            <a:r>
              <a:rPr baseline="-25000" lang="en" sz="2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</a:t>
            </a:r>
            <a:r>
              <a:rPr lang="en" sz="2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v</a:t>
            </a:r>
            <a:r>
              <a:rPr baseline="-25000" lang="en" sz="2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</a:t>
            </a:r>
            <a:r>
              <a:rPr lang="en" sz="2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 sz="2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Espaço = O(g) </a:t>
            </a:r>
            <a:endParaRPr sz="2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9" name="Google Shape;569;p57"/>
          <p:cNvSpPr txBox="1"/>
          <p:nvPr/>
        </p:nvSpPr>
        <p:spPr>
          <a:xfrm>
            <a:off x="1350050" y="2185000"/>
            <a:ext cx="33327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Tempo = </a:t>
            </a:r>
            <a:r>
              <a:rPr lang="en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O(e</a:t>
            </a:r>
            <a:r>
              <a:rPr baseline="-25000" lang="en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</a:t>
            </a:r>
            <a:r>
              <a:rPr lang="en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= e</a:t>
            </a:r>
            <a:r>
              <a:rPr baseline="-25000" lang="en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</a:t>
            </a:r>
            <a:r>
              <a:rPr lang="en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+e</a:t>
            </a:r>
            <a:r>
              <a:rPr baseline="-25000" lang="en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</a:t>
            </a:r>
            <a:r>
              <a:rPr lang="en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 sz="2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Espaço = O(e</a:t>
            </a:r>
            <a:r>
              <a:rPr baseline="-25000" lang="en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</a:t>
            </a:r>
            <a:r>
              <a:rPr lang="en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 sz="2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0" name="Google Shape;570;p57"/>
          <p:cNvSpPr txBox="1"/>
          <p:nvPr/>
        </p:nvSpPr>
        <p:spPr>
          <a:xfrm>
            <a:off x="1698550" y="3448075"/>
            <a:ext cx="24402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Tempo = </a:t>
            </a:r>
            <a:r>
              <a:rPr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O(e</a:t>
            </a:r>
            <a:r>
              <a:rPr baseline="-25000"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</a:t>
            </a:r>
            <a:r>
              <a:rPr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 sz="2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Espaço → Diminui</a:t>
            </a:r>
            <a:endParaRPr sz="2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71" name="Google Shape;571;p57" title="Thu Apr 16 11:19:44 AM -03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8950" y="194150"/>
            <a:ext cx="2242450" cy="4436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2" name="Google Shape;572;p57"/>
          <p:cNvCxnSpPr/>
          <p:nvPr/>
        </p:nvCxnSpPr>
        <p:spPr>
          <a:xfrm flipH="1" rot="10800000">
            <a:off x="4641100" y="382600"/>
            <a:ext cx="893400" cy="486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3" name="Google Shape;573;p57"/>
          <p:cNvCxnSpPr/>
          <p:nvPr/>
        </p:nvCxnSpPr>
        <p:spPr>
          <a:xfrm flipH="1" rot="10800000">
            <a:off x="4218450" y="2360400"/>
            <a:ext cx="1371600" cy="263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4" name="Google Shape;574;p57"/>
          <p:cNvSpPr txBox="1"/>
          <p:nvPr/>
        </p:nvSpPr>
        <p:spPr>
          <a:xfrm>
            <a:off x="622000" y="299800"/>
            <a:ext cx="4593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2.4.1 Auxiliares</a:t>
            </a:r>
            <a:endParaRPr sz="2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75" name="Google Shape;575;p57"/>
          <p:cNvCxnSpPr/>
          <p:nvPr/>
        </p:nvCxnSpPr>
        <p:spPr>
          <a:xfrm flipH="1" rot="10800000">
            <a:off x="3835700" y="3014250"/>
            <a:ext cx="1698600" cy="709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8"/>
          <p:cNvSpPr txBox="1"/>
          <p:nvPr/>
        </p:nvSpPr>
        <p:spPr>
          <a:xfrm>
            <a:off x="781175" y="738775"/>
            <a:ext cx="3537000" cy="35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1" name="Google Shape;581;p58"/>
          <p:cNvSpPr txBox="1"/>
          <p:nvPr/>
        </p:nvSpPr>
        <p:spPr>
          <a:xfrm>
            <a:off x="366825" y="661875"/>
            <a:ext cx="4464900" cy="42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Shuffle gera resultados diferentes;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Procura por pequenos clusters.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n=nodes; g=neighbors; e=edges; v=vertices;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O(n * 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( e</a:t>
            </a:r>
            <a:r>
              <a:rPr baseline="-25000"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v</a:t>
            </a:r>
            <a:r>
              <a:rPr baseline="-25000"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+ ge</a:t>
            </a:r>
            <a:r>
              <a:rPr baseline="-25000"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+ e</a:t>
            </a:r>
            <a:r>
              <a:rPr baseline="-25000"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)) 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Todos os nós conectados (threshold alto):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</a:t>
            </a:r>
            <a:r>
              <a:rPr baseline="-25000"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=n; v</a:t>
            </a:r>
            <a:r>
              <a:rPr baseline="-25000"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=n; g=n-1; e</a:t>
            </a:r>
            <a:r>
              <a:rPr baseline="-25000"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=n; e</a:t>
            </a:r>
            <a:r>
              <a:rPr baseline="-25000"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=n;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O(n</a:t>
            </a:r>
            <a:r>
              <a:rPr baseline="30000"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3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);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Caso mais real: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Todos os valores são pequenos;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Tempo → O(n);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Espaço → O(n).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2" name="Google Shape;582;p58"/>
          <p:cNvSpPr txBox="1"/>
          <p:nvPr/>
        </p:nvSpPr>
        <p:spPr>
          <a:xfrm>
            <a:off x="4985238" y="4479575"/>
            <a:ext cx="36576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Fonte: Criação própria via </a:t>
            </a:r>
            <a:r>
              <a:rPr lang="en" sz="12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Overleaf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83" name="Google Shape;583;p58" title="Wed Apr 15 08:45:32 PM -03 20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5250" y="240200"/>
            <a:ext cx="4007474" cy="4091374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58"/>
          <p:cNvSpPr txBox="1"/>
          <p:nvPr/>
        </p:nvSpPr>
        <p:spPr>
          <a:xfrm>
            <a:off x="279125" y="149400"/>
            <a:ext cx="747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2.4.2 Coarsening</a:t>
            </a:r>
            <a:endParaRPr sz="2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9" name="Google Shape;589;p59" title="Wed Apr 15 08:47:56 PM -03 20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9350" y="317525"/>
            <a:ext cx="2726700" cy="4180158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59"/>
          <p:cNvSpPr txBox="1"/>
          <p:nvPr/>
        </p:nvSpPr>
        <p:spPr>
          <a:xfrm>
            <a:off x="2982863" y="4605663"/>
            <a:ext cx="36576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Fonte: Criação própria via </a:t>
            </a:r>
            <a:r>
              <a:rPr lang="en" sz="12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Overleaf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1" name="Google Shape;591;p59"/>
          <p:cNvSpPr txBox="1"/>
          <p:nvPr/>
        </p:nvSpPr>
        <p:spPr>
          <a:xfrm>
            <a:off x="4742400" y="1408600"/>
            <a:ext cx="1762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Tempo = O(n)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Espaço = O(n)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92" name="Google Shape;592;p59"/>
          <p:cNvCxnSpPr/>
          <p:nvPr/>
        </p:nvCxnSpPr>
        <p:spPr>
          <a:xfrm flipH="1" rot="10800000">
            <a:off x="5578500" y="510375"/>
            <a:ext cx="482100" cy="837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3" name="Google Shape;593;p59"/>
          <p:cNvSpPr txBox="1"/>
          <p:nvPr/>
        </p:nvSpPr>
        <p:spPr>
          <a:xfrm>
            <a:off x="612325" y="3863900"/>
            <a:ext cx="1524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Tempo = </a:t>
            </a: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O(n)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Espaço = O(n)</a:t>
            </a:r>
            <a:endParaRPr sz="17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4" name="Google Shape;594;p59"/>
          <p:cNvSpPr txBox="1"/>
          <p:nvPr/>
        </p:nvSpPr>
        <p:spPr>
          <a:xfrm>
            <a:off x="309600" y="1654488"/>
            <a:ext cx="20202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Tempo ≈ </a:t>
            </a: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O(n log n) (Considerando coarsening ≈ 1/2</a:t>
            </a:r>
            <a:r>
              <a:rPr baseline="30000"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k</a:t>
            </a: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), na pr</a:t>
            </a: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ática ≈ O(n)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Espaço =  O(n)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5" name="Google Shape;595;p59"/>
          <p:cNvSpPr txBox="1"/>
          <p:nvPr/>
        </p:nvSpPr>
        <p:spPr>
          <a:xfrm>
            <a:off x="612325" y="621225"/>
            <a:ext cx="243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Tempo = </a:t>
            </a: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O(n log n) 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Espaço = O(n)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96" name="Google Shape;596;p59" title="Wed Apr 15 08:49:24 PM -03 202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07263" y="88688"/>
            <a:ext cx="2168425" cy="45169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7" name="Google Shape;597;p59"/>
          <p:cNvCxnSpPr/>
          <p:nvPr/>
        </p:nvCxnSpPr>
        <p:spPr>
          <a:xfrm flipH="1" rot="10800000">
            <a:off x="1837375" y="1706500"/>
            <a:ext cx="746400" cy="287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8" name="Google Shape;598;p59"/>
          <p:cNvCxnSpPr/>
          <p:nvPr/>
        </p:nvCxnSpPr>
        <p:spPr>
          <a:xfrm flipH="1" rot="10800000">
            <a:off x="2272700" y="311050"/>
            <a:ext cx="350700" cy="454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9" name="Google Shape;599;p59"/>
          <p:cNvCxnSpPr>
            <a:stCxn id="593" idx="3"/>
          </p:cNvCxnSpPr>
          <p:nvPr/>
        </p:nvCxnSpPr>
        <p:spPr>
          <a:xfrm flipH="1" rot="10800000">
            <a:off x="2136925" y="3827600"/>
            <a:ext cx="462600" cy="390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0" name="Google Shape;600;p59"/>
          <p:cNvSpPr txBox="1"/>
          <p:nvPr/>
        </p:nvSpPr>
        <p:spPr>
          <a:xfrm>
            <a:off x="175450" y="181275"/>
            <a:ext cx="747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2.4.4 Bipartitioning</a:t>
            </a: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0"/>
          <p:cNvSpPr txBox="1"/>
          <p:nvPr/>
        </p:nvSpPr>
        <p:spPr>
          <a:xfrm>
            <a:off x="781175" y="738775"/>
            <a:ext cx="3537000" cy="35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6" name="Google Shape;606;p60"/>
          <p:cNvSpPr txBox="1"/>
          <p:nvPr/>
        </p:nvSpPr>
        <p:spPr>
          <a:xfrm>
            <a:off x="366825" y="738775"/>
            <a:ext cx="8359500" cy="41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Char char="●"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 contração segue a árvore criada;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Char char="●"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Tempo → O(n * 2</a:t>
            </a:r>
            <a:r>
              <a:rPr baseline="30000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</a:t>
            </a: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);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Char char="●"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Espaço → O(2</a:t>
            </a:r>
            <a:r>
              <a:rPr baseline="30000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</a:t>
            </a: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) armazenamento dos tensors (possuem tamanhos diferentes).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7" name="Google Shape;607;p60"/>
          <p:cNvSpPr txBox="1"/>
          <p:nvPr/>
        </p:nvSpPr>
        <p:spPr>
          <a:xfrm>
            <a:off x="1491237" y="4479575"/>
            <a:ext cx="71517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Fonte: Criação própria via </a:t>
            </a:r>
            <a:r>
              <a:rPr lang="en" sz="12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Overleaf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e </a:t>
            </a:r>
            <a:r>
              <a:rPr lang="en" sz="12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Mermaid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08" name="Google Shape;608;p60" title="Thu Apr  9 12:54:17 PM -03 202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4486" y="2057900"/>
            <a:ext cx="2931550" cy="2200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9" name="Google Shape;609;p60"/>
          <p:cNvCxnSpPr/>
          <p:nvPr/>
        </p:nvCxnSpPr>
        <p:spPr>
          <a:xfrm rot="10800000">
            <a:off x="933588" y="2169125"/>
            <a:ext cx="0" cy="1937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10" name="Google Shape;610;p60" title="Wed Apr 15 08:35:56 PM -03 2026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09663" y="2273477"/>
            <a:ext cx="3894650" cy="17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60"/>
          <p:cNvSpPr txBox="1"/>
          <p:nvPr/>
        </p:nvSpPr>
        <p:spPr>
          <a:xfrm>
            <a:off x="518375" y="149400"/>
            <a:ext cx="747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3 Contração</a:t>
            </a:r>
            <a:endParaRPr sz="2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61"/>
          <p:cNvSpPr txBox="1"/>
          <p:nvPr/>
        </p:nvSpPr>
        <p:spPr>
          <a:xfrm>
            <a:off x="519600" y="296875"/>
            <a:ext cx="81048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Considerações Finais</a:t>
            </a:r>
            <a:endParaRPr sz="2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7" name="Google Shape;617;p61"/>
          <p:cNvSpPr txBox="1"/>
          <p:nvPr/>
        </p:nvSpPr>
        <p:spPr>
          <a:xfrm>
            <a:off x="558450" y="940975"/>
            <a:ext cx="7926300" cy="3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Char char="●"/>
            </a:pPr>
            <a:r>
              <a:rPr lang="en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Caminho → limitante é o KaHyPar ≈ O(n log n);</a:t>
            </a:r>
            <a:endParaRPr sz="2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Char char="●"/>
            </a:pPr>
            <a:r>
              <a:rPr lang="en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Contração → limitante é a dimensão D </a:t>
            </a:r>
            <a:r>
              <a:rPr lang="en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≈ </a:t>
            </a:r>
            <a:r>
              <a:rPr lang="en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O(n * 2</a:t>
            </a:r>
            <a:r>
              <a:rPr baseline="30000" lang="en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);</a:t>
            </a:r>
            <a:endParaRPr sz="2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Char char="●"/>
            </a:pPr>
            <a:r>
              <a:rPr lang="en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Espaço → O(2</a:t>
            </a:r>
            <a:r>
              <a:rPr baseline="30000" lang="en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), quando D é pequeno → O(n);</a:t>
            </a:r>
            <a:endParaRPr sz="2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Char char="●"/>
            </a:pPr>
            <a:r>
              <a:rPr lang="en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Em casos reais (melhorias):</a:t>
            </a:r>
            <a:endParaRPr sz="2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Char char="○"/>
            </a:pPr>
            <a:r>
              <a:rPr lang="en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Uso de Paralelização e aceleradores;</a:t>
            </a:r>
            <a:endParaRPr sz="2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Char char="○"/>
            </a:pPr>
            <a:r>
              <a:rPr lang="en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Uso de </a:t>
            </a:r>
            <a:r>
              <a:rPr lang="en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múltiplas</a:t>
            </a:r>
            <a:r>
              <a:rPr lang="en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funções de otimização.</a:t>
            </a:r>
            <a:endParaRPr sz="2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62"/>
          <p:cNvSpPr txBox="1"/>
          <p:nvPr/>
        </p:nvSpPr>
        <p:spPr>
          <a:xfrm>
            <a:off x="519600" y="853650"/>
            <a:ext cx="49356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Repositório</a:t>
            </a:r>
            <a:endParaRPr sz="3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3" name="Google Shape;623;p62"/>
          <p:cNvSpPr txBox="1"/>
          <p:nvPr/>
        </p:nvSpPr>
        <p:spPr>
          <a:xfrm>
            <a:off x="571800" y="1983100"/>
            <a:ext cx="4831200" cy="18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https://github.com/Dpbm/mestrado-aulas/tree/main/algoritmos/projeto-seminario</a:t>
            </a:r>
            <a:endParaRPr sz="2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24" name="Google Shape;624;p62" title="qrcode_github.c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5200" y="853650"/>
            <a:ext cx="3436200" cy="343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3"/>
          <p:cNvSpPr txBox="1"/>
          <p:nvPr/>
        </p:nvSpPr>
        <p:spPr>
          <a:xfrm>
            <a:off x="385950" y="96475"/>
            <a:ext cx="77634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Referências</a:t>
            </a:r>
            <a:endParaRPr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0" name="Google Shape;630;p63"/>
          <p:cNvSpPr txBox="1"/>
          <p:nvPr/>
        </p:nvSpPr>
        <p:spPr>
          <a:xfrm>
            <a:off x="385950" y="622000"/>
            <a:ext cx="8529600" cy="42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FISHMAN, M.; WHITE, S.; STOUDENMIRE, E. The ITensor Software Library for Tensor Network Calculations. SciPost Physics Codebases, p. 004, 23 ago. 2022.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Overview — NVIDIA cuQuantum 23.06.0 documentation. Disponível em: &lt;https://docs.nvidia.com/cuda/cuquantum/23.06.0/cutensornet/overview.html&gt;. Acesso em: 4 abr. 2026.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SCHINDLER, F.; JERMYN, A. S. Algorithms for tensor network contraction ordering. Machine Learning: Science and Technology, v. 1, n. 3, p. 035001, 2 jul. 2020.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BRIDGEMAN, J. C.; CHUBB, C. T. Hand-waving and interpretive dance: an introductory course on tensor networks. v. 50, n. 22, p. 223001–223001, 9 mar. 2016.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NGUYEN, T. et al. Tensor Network Quantum Virtual Machine for Simulating Quantum Circuits at Exascale. ACM Transactions on Quantum Computing, v. 4, n. 1, p. 1–21, 21 out. 2022.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ORÚS, R. A practical introduction to tensor networks: Matrix product states and projected entangled pair states. Annals of Physics, v. 349, p. 117–158, out. 2014.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GRAY, J.; KOURTIS, S. Hyper-optimized tensor network contraction. Quantum, v. 5, p. 410, 15 mar. 2021.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SCHLAG, S. et al. High-Quality Hypergraph Partitioning. ACM Journal of Experimental Algorithmics, v. 27, p. 1–39, 21 abr. 2022.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INACIO, Y. R. Tensor Networks: Foundations, Architectures, and Practical Implementation. Disponível em: &lt;https://medium.com/@yara.rodrigues.inacio/tensor-networks-foundations-architectures-and-practical-implementation-ca7d146dd2c1&gt;. Acesso em: 5 maio. 2026.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BRIDGEMAN, J. et al. Matrix Product States. Disponível em: &lt;https://quantumghent.github.io/TensorTutorials/3-MatrixProductStates/MatrixProductStates.html&gt;. Acesso em: 5 maio. 2026.</a:t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