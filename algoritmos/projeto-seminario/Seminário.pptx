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5143500" cx="9144000"/>
  <p:notesSz cx="6858000" cy="9144000"/>
  <p:embeddedFontLst>
    <p:embeddedFont>
      <p:font typeface="Inter"/>
      <p:regular r:id="rId30"/>
      <p:bold r:id="rId31"/>
      <p:italic r:id="rId32"/>
      <p:boldItalic r:id="rId33"/>
    </p:embeddedFont>
    <p:embeddedFont>
      <p:font typeface="Urbanist Medium"/>
      <p:regular r:id="rId34"/>
      <p:bold r:id="rId35"/>
      <p:italic r:id="rId36"/>
      <p:boldItalic r:id="rId37"/>
    </p:embeddedFont>
    <p:embeddedFont>
      <p:font typeface="Urbanist SemiBold"/>
      <p:regular r:id="rId38"/>
      <p:bold r:id="rId39"/>
      <p:italic r:id="rId40"/>
      <p:boldItalic r:id="rId41"/>
    </p:embeddedFont>
    <p:embeddedFont>
      <p:font typeface="Urbanist"/>
      <p:regular r:id="rId42"/>
      <p:bold r:id="rId43"/>
      <p:italic r:id="rId44"/>
      <p:boldItalic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UrbanistSemiBold-italic.fntdata"/><Relationship Id="rId20" Type="http://schemas.openxmlformats.org/officeDocument/2006/relationships/slide" Target="slides/slide15.xml"/><Relationship Id="rId42" Type="http://schemas.openxmlformats.org/officeDocument/2006/relationships/font" Target="fonts/Urbanist-regular.fntdata"/><Relationship Id="rId41" Type="http://schemas.openxmlformats.org/officeDocument/2006/relationships/font" Target="fonts/UrbanistSemiBold-boldItalic.fntdata"/><Relationship Id="rId22" Type="http://schemas.openxmlformats.org/officeDocument/2006/relationships/slide" Target="slides/slide17.xml"/><Relationship Id="rId44" Type="http://schemas.openxmlformats.org/officeDocument/2006/relationships/font" Target="fonts/Urbanist-italic.fntdata"/><Relationship Id="rId21" Type="http://schemas.openxmlformats.org/officeDocument/2006/relationships/slide" Target="slides/slide16.xml"/><Relationship Id="rId43" Type="http://schemas.openxmlformats.org/officeDocument/2006/relationships/font" Target="fonts/Urbanist-bold.fnt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45" Type="http://schemas.openxmlformats.org/officeDocument/2006/relationships/font" Target="fonts/Urbanist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bold.fntdata"/><Relationship Id="rId30" Type="http://schemas.openxmlformats.org/officeDocument/2006/relationships/font" Target="fonts/Inter-regular.fntdata"/><Relationship Id="rId11" Type="http://schemas.openxmlformats.org/officeDocument/2006/relationships/slide" Target="slides/slide6.xml"/><Relationship Id="rId33" Type="http://schemas.openxmlformats.org/officeDocument/2006/relationships/font" Target="fonts/Inter-boldItalic.fntdata"/><Relationship Id="rId10" Type="http://schemas.openxmlformats.org/officeDocument/2006/relationships/slide" Target="slides/slide5.xml"/><Relationship Id="rId32" Type="http://schemas.openxmlformats.org/officeDocument/2006/relationships/font" Target="fonts/Inter-italic.fntdata"/><Relationship Id="rId13" Type="http://schemas.openxmlformats.org/officeDocument/2006/relationships/slide" Target="slides/slide8.xml"/><Relationship Id="rId35" Type="http://schemas.openxmlformats.org/officeDocument/2006/relationships/font" Target="fonts/UrbanistMedium-bold.fntdata"/><Relationship Id="rId12" Type="http://schemas.openxmlformats.org/officeDocument/2006/relationships/slide" Target="slides/slide7.xml"/><Relationship Id="rId34" Type="http://schemas.openxmlformats.org/officeDocument/2006/relationships/font" Target="fonts/UrbanistMedium-regular.fntdata"/><Relationship Id="rId15" Type="http://schemas.openxmlformats.org/officeDocument/2006/relationships/slide" Target="slides/slide10.xml"/><Relationship Id="rId37" Type="http://schemas.openxmlformats.org/officeDocument/2006/relationships/font" Target="fonts/UrbanistMedium-boldItalic.fntdata"/><Relationship Id="rId14" Type="http://schemas.openxmlformats.org/officeDocument/2006/relationships/slide" Target="slides/slide9.xml"/><Relationship Id="rId36" Type="http://schemas.openxmlformats.org/officeDocument/2006/relationships/font" Target="fonts/UrbanistMedium-italic.fntdata"/><Relationship Id="rId17" Type="http://schemas.openxmlformats.org/officeDocument/2006/relationships/slide" Target="slides/slide12.xml"/><Relationship Id="rId39" Type="http://schemas.openxmlformats.org/officeDocument/2006/relationships/font" Target="fonts/UrbanistSemiBold-bold.fntdata"/><Relationship Id="rId16" Type="http://schemas.openxmlformats.org/officeDocument/2006/relationships/slide" Target="slides/slide11.xml"/><Relationship Id="rId38" Type="http://schemas.openxmlformats.org/officeDocument/2006/relationships/font" Target="fonts/UrbanistSemiBold-regular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967c0d1695_0_14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967c0d1695_0_14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967c0d1695_0_14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967c0d1695_0_14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967c0d1695_0_15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967c0d1695_0_15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967c0d1695_0_15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967c0d1695_0_15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967c0d1695_0_1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3967c0d1695_0_1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3967c0d1695_0_15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3967c0d1695_0_15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d40696531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3d40696531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8711025147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7" name="Google Shape;487;g38711025147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d42c643f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3d42c643f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d50c41857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3d50c41857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d5660491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5" name="Google Shape;515;g3d5660491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d50c41857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d50c41857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d48c7926cb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3d48c7926cb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d48c7926cb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d48c7926cb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d48c7926cb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3d48c7926cb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d48c7926c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d48c7926c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3d57e62317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g3d57e62317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d5c51044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3d5c51044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d65db71fd9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g3d65db71fd9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d5e56e53f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3d5e56e53f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d5e56e53f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d5e56e53f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d5e56e53ff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d5e56e53ff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d48c7926c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d48c7926c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967c0d1695_0_14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967c0d1695_0_14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 amt="50000"/>
          </a:blip>
          <a:srcRect b="8145" l="3134" r="7835" t="16786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" name="Google Shape;16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" name="Google Shape;17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" name="Google Shape;18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9" name="Google Shape;19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" name="Google Shape;20;p2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" name="Google Shape;21;p2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" name="Google Shape;22;p2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" name="Google Shape;23;p2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" name="Google Shape;28;p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" name="Google Shape;29;p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" name="Google Shape;30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2" name="Google Shape;32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" name="Google Shape;35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6" name="Google Shape;36;p4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7" name="Google Shape;37;p4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9" name="Google Shape;39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1" name="Google Shape;41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" name="Google Shape;42;p4"/>
          <p:cNvSpPr txBox="1"/>
          <p:nvPr>
            <p:ph idx="5" type="subTitle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3" name="Google Shape;43;p4"/>
          <p:cNvSpPr txBox="1"/>
          <p:nvPr>
            <p:ph idx="6" type="subTitle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4" name="Google Shape;44;p4"/>
          <p:cNvSpPr txBox="1"/>
          <p:nvPr>
            <p:ph idx="7" type="subTitle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45" name="Google Shape;45;p4"/>
          <p:cNvSpPr txBox="1"/>
          <p:nvPr>
            <p:ph idx="8" type="body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6" name="Google Shape;46;p4"/>
          <p:cNvSpPr txBox="1"/>
          <p:nvPr>
            <p:ph idx="9" type="body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3" type="body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1" name="Google Shape;51;p5"/>
          <p:cNvSpPr txBox="1"/>
          <p:nvPr>
            <p:ph idx="3" type="title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/>
        </p:txBody>
      </p:sp>
      <p:sp>
        <p:nvSpPr>
          <p:cNvPr id="52" name="Google Shape;52;p5"/>
          <p:cNvSpPr txBox="1"/>
          <p:nvPr>
            <p:ph idx="1" type="body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/>
        </p:txBody>
      </p:sp>
      <p:sp>
        <p:nvSpPr>
          <p:cNvPr id="53" name="Google Shape;53;p5"/>
          <p:cNvSpPr txBox="1"/>
          <p:nvPr>
            <p:ph idx="4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4" name="Google Shape;54;p5"/>
          <p:cNvSpPr txBox="1"/>
          <p:nvPr>
            <p:ph idx="5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5" name="Google Shape;55;p5"/>
          <p:cNvSpPr txBox="1"/>
          <p:nvPr>
            <p:ph idx="6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6" name="Google Shape;56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8" name="Google Shape;58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" name="Google Shape;59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" name="Google Shape;60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" name="Google Shape;61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4" name="Google Shape;64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6"/>
          <p:cNvSpPr txBox="1"/>
          <p:nvPr>
            <p:ph idx="1" type="body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68" name="Google Shape;68;p6"/>
          <p:cNvSpPr txBox="1"/>
          <p:nvPr>
            <p:ph idx="5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9" name="Google Shape;69;p6"/>
          <p:cNvSpPr txBox="1"/>
          <p:nvPr>
            <p:ph idx="6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0" name="Google Shape;70;p6"/>
          <p:cNvSpPr txBox="1"/>
          <p:nvPr>
            <p:ph idx="7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1" name="Google Shape;71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" name="Google Shape;73;p6"/>
          <p:cNvSpPr txBox="1"/>
          <p:nvPr>
            <p:ph idx="8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74" name="Google Shape;74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7"/>
          <p:cNvPicPr preferRelativeResize="0"/>
          <p:nvPr/>
        </p:nvPicPr>
        <p:blipFill rotWithShape="1">
          <a:blip r:embed="rId2">
            <a:alphaModFix amt="60000"/>
          </a:blip>
          <a:srcRect b="14588" l="0" r="15469" t="0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8" name="Google Shape;78;p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9" name="Google Shape;79;p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80" name="Google Shape;80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81" name="Google Shape;81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" name="Google Shape;82;p7"/>
          <p:cNvSpPr txBox="1"/>
          <p:nvPr>
            <p:ph idx="4" type="subTitle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3" name="Google Shape;83;p7"/>
          <p:cNvSpPr txBox="1"/>
          <p:nvPr>
            <p:ph idx="5" type="subTitle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4" name="Google Shape;84;p7"/>
          <p:cNvSpPr txBox="1"/>
          <p:nvPr>
            <p:ph idx="6" type="subTitle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5" name="Google Shape;85;p7"/>
          <p:cNvSpPr txBox="1"/>
          <p:nvPr>
            <p:ph idx="7" type="subTitle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6" name="Google Shape;86;p7"/>
          <p:cNvSpPr txBox="1"/>
          <p:nvPr>
            <p:ph idx="8" type="subTitle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" name="Google Shape;87;p7"/>
          <p:cNvSpPr txBox="1"/>
          <p:nvPr>
            <p:ph idx="9" type="subTitle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8" name="Google Shape;88;p7"/>
          <p:cNvSpPr txBox="1"/>
          <p:nvPr>
            <p:ph idx="13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7"/>
          <p:cNvSpPr txBox="1"/>
          <p:nvPr>
            <p:ph idx="14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7"/>
          <p:cNvSpPr txBox="1"/>
          <p:nvPr>
            <p:ph idx="15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" name="Google Shape;91;p7"/>
          <p:cNvSpPr txBox="1"/>
          <p:nvPr>
            <p:ph idx="16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7"/>
          <p:cNvSpPr txBox="1"/>
          <p:nvPr>
            <p:ph idx="17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7"/>
          <p:cNvSpPr txBox="1"/>
          <p:nvPr>
            <p:ph idx="18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98" name="Google Shape;98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9" name="Google Shape;99;p8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0" name="Google Shape;100;p8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1" name="Google Shape;101;p8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2" name="Google Shape;102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3" name="Google Shape;103;p8"/>
          <p:cNvSpPr txBox="1"/>
          <p:nvPr>
            <p:ph idx="6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4" name="Google Shape;104;p8"/>
          <p:cNvSpPr/>
          <p:nvPr>
            <p:ph idx="7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5" name="Google Shape;105;p8"/>
          <p:cNvSpPr txBox="1"/>
          <p:nvPr>
            <p:ph idx="8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6" name="Google Shape;106;p8"/>
          <p:cNvSpPr txBox="1"/>
          <p:nvPr>
            <p:ph idx="9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7" name="Google Shape;107;p8"/>
          <p:cNvSpPr/>
          <p:nvPr>
            <p:ph idx="13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08" name="Google Shape;108;p8"/>
          <p:cNvSpPr txBox="1"/>
          <p:nvPr>
            <p:ph idx="14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09" name="Google Shape;109;p8"/>
          <p:cNvSpPr txBox="1"/>
          <p:nvPr>
            <p:ph idx="15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0" name="Google Shape;110;p8"/>
          <p:cNvSpPr/>
          <p:nvPr>
            <p:ph idx="16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1" name="Google Shape;111;p8"/>
          <p:cNvSpPr txBox="1"/>
          <p:nvPr>
            <p:ph idx="17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2" name="Google Shape;112;p8"/>
          <p:cNvSpPr txBox="1"/>
          <p:nvPr>
            <p:ph idx="18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3" name="Google Shape;113;p8"/>
          <p:cNvSpPr/>
          <p:nvPr>
            <p:ph idx="19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4" name="Google Shape;114;p8"/>
          <p:cNvSpPr txBox="1"/>
          <p:nvPr>
            <p:ph idx="20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5" name="Google Shape;115;p8"/>
          <p:cNvSpPr txBox="1"/>
          <p:nvPr>
            <p:ph idx="21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6" name="Google Shape;116;p8"/>
          <p:cNvSpPr/>
          <p:nvPr>
            <p:ph idx="22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117" name="Google Shape;117;p8"/>
          <p:cNvSpPr txBox="1"/>
          <p:nvPr>
            <p:ph idx="23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118" name="Google Shape;118;p8"/>
          <p:cNvSpPr txBox="1"/>
          <p:nvPr>
            <p:ph idx="24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cxnSp>
        <p:nvCxnSpPr>
          <p:cNvPr id="119" name="Google Shape;119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" name="Google Shape;120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125" name="Google Shape;125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6" name="Google Shape;126;p9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7" name="Google Shape;127;p9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8" name="Google Shape;128;p9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29" name="Google Shape;129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" name="Google Shape;130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0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4" name="Google Shape;134;p10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5" name="Google Shape;135;p10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136" name="Google Shape;136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38" name="Google Shape;138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39" name="Google Shape;139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40" name="Google Shape;140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41" name="Google Shape;141;p10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2" name="Google Shape;142;p10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3" name="Google Shape;143;p10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4" name="Google Shape;144;p10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5" name="Google Shape;145;p10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46" name="Google Shape;146;p10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7" name="Google Shape;147;p10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48" name="Google Shape;148;p10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49" name="Google Shape;149;p10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0" name="Google Shape;150;p10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1" name="Google Shape;151;p10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2" name="Google Shape;152;p10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153" name="Google Shape;153;p10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54" name="Google Shape;154;p10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5" name="Google Shape;155;p10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6" name="Google Shape;156;p10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57" name="Google Shape;157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al black shapes against a shadowy background. " id="161" name="Google Shape;161;p11"/>
          <p:cNvPicPr preferRelativeResize="0"/>
          <p:nvPr/>
        </p:nvPicPr>
        <p:blipFill rotWithShape="1">
          <a:blip r:embed="rId2">
            <a:alphaModFix/>
          </a:blip>
          <a:srcRect b="42245" l="17241" r="25039" t="35"/>
          <a:stretch/>
        </p:blipFill>
        <p:spPr>
          <a:xfrm>
            <a:off x="0" y="-289"/>
            <a:ext cx="9144000" cy="5144100"/>
          </a:xfrm>
          <a:prstGeom prst="roundRect">
            <a:avLst>
              <a:gd fmla="val 0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2" name="Google Shape;162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3" name="Google Shape;163;p11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4" name="Google Shape;164;p11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5" name="Google Shape;165;p11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66" name="Google Shape;166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167" name="Google Shape;167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8" name="Google Shape;168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9" name="Google Shape;169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0" name="Google Shape;170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" name="Google Shape;171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indent="-317500" lvl="2" marL="13716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indent="-317500" lvl="3" marL="18288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indent="-317500" lvl="4" marL="22860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indent="-317500" lvl="5" marL="27432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indent="-317500" lvl="6" marL="32004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indent="-317500" lvl="7" marL="36576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indent="-317500" lvl="8" marL="41148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/>
        </p:txBody>
      </p:sp>
      <p:sp>
        <p:nvSpPr>
          <p:cNvPr id="174" name="Google Shape;174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75" name="Google Shape;175;p1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6" name="Google Shape;176;p1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7" name="Google Shape;177;p1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8" name="Google Shape;178;p12"/>
          <p:cNvSpPr txBox="1"/>
          <p:nvPr>
            <p:ph idx="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79" name="Google Shape;179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cxnSp>
        <p:nvCxnSpPr>
          <p:cNvPr id="180" name="Google Shape;180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1" name="Google Shape;181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/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5" name="Google Shape;185;p13"/>
          <p:cNvSpPr txBox="1"/>
          <p:nvPr>
            <p:ph idx="1" type="subTitle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6" name="Google Shape;186;p13"/>
          <p:cNvSpPr txBox="1"/>
          <p:nvPr>
            <p:ph idx="2" type="subTitle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7" name="Google Shape;187;p13"/>
          <p:cNvSpPr txBox="1"/>
          <p:nvPr>
            <p:ph idx="3" type="title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8" name="Google Shape;188;p13"/>
          <p:cNvSpPr txBox="1"/>
          <p:nvPr>
            <p:ph idx="4" type="subTitle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9" name="Google Shape;189;p13"/>
          <p:cNvSpPr txBox="1"/>
          <p:nvPr>
            <p:ph idx="5" type="subTitle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0" name="Google Shape;190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1" name="Google Shape;191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2" name="Google Shape;192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3" name="Google Shape;193;p13"/>
          <p:cNvSpPr txBox="1"/>
          <p:nvPr>
            <p:ph idx="9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4" name="Google Shape;194;p13"/>
          <p:cNvSpPr txBox="1"/>
          <p:nvPr>
            <p:ph idx="1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5" name="Google Shape;195;p13"/>
          <p:cNvSpPr txBox="1"/>
          <p:nvPr>
            <p:ph idx="1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96" name="Google Shape;196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97" name="Google Shape;197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98" name="Google Shape;198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9" name="Google Shape;199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00" name="Google Shape;200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1" name="Google Shape;201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04" name="Google Shape;204;p1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5" name="Google Shape;205;p1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6" name="Google Shape;206;p1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07" name="Google Shape;207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8" name="Google Shape;208;p14"/>
          <p:cNvSpPr txBox="1"/>
          <p:nvPr>
            <p:ph idx="4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09" name="Google Shape;209;p14"/>
          <p:cNvSpPr txBox="1"/>
          <p:nvPr>
            <p:ph idx="5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0" name="Google Shape;210;p14"/>
          <p:cNvSpPr txBox="1"/>
          <p:nvPr>
            <p:ph idx="6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1" name="Google Shape;211;p14"/>
          <p:cNvSpPr txBox="1"/>
          <p:nvPr>
            <p:ph idx="7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2" name="Google Shape;212;p14"/>
          <p:cNvSpPr txBox="1"/>
          <p:nvPr>
            <p:ph idx="8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3" name="Google Shape;213;p14"/>
          <p:cNvSpPr txBox="1"/>
          <p:nvPr>
            <p:ph idx="9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4" name="Google Shape;214;p14"/>
          <p:cNvSpPr txBox="1"/>
          <p:nvPr>
            <p:ph idx="13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5" name="Google Shape;215;p14"/>
          <p:cNvSpPr txBox="1"/>
          <p:nvPr>
            <p:ph idx="14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6" name="Google Shape;216;p14"/>
          <p:cNvSpPr txBox="1"/>
          <p:nvPr>
            <p:ph idx="15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7" name="Google Shape;217;p14"/>
          <p:cNvSpPr txBox="1"/>
          <p:nvPr>
            <p:ph idx="16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18" name="Google Shape;218;p14"/>
          <p:cNvSpPr txBox="1"/>
          <p:nvPr>
            <p:ph idx="17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9" name="Google Shape;219;p14"/>
          <p:cNvSpPr txBox="1"/>
          <p:nvPr>
            <p:ph idx="18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0" name="Google Shape;220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1" name="Google Shape;221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15"/>
          <p:cNvPicPr preferRelativeResize="0"/>
          <p:nvPr/>
        </p:nvPicPr>
        <p:blipFill rotWithShape="1">
          <a:blip r:embed="rId2">
            <a:alphaModFix/>
          </a:blip>
          <a:srcRect b="14588" l="0" r="15469" t="0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15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6" name="Google Shape;226;p15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7" name="Google Shape;227;p15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8" name="Google Shape;228;p15"/>
          <p:cNvSpPr txBox="1"/>
          <p:nvPr>
            <p:ph idx="4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9" name="Google Shape;229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0" name="Google Shape;230;p15"/>
          <p:cNvSpPr txBox="1"/>
          <p:nvPr>
            <p:ph idx="5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1" name="Google Shape;231;p15"/>
          <p:cNvSpPr txBox="1"/>
          <p:nvPr>
            <p:ph idx="6" type="body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2" name="Google Shape;232;p15"/>
          <p:cNvSpPr txBox="1"/>
          <p:nvPr>
            <p:ph idx="7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3" name="Google Shape;233;p15"/>
          <p:cNvSpPr txBox="1"/>
          <p:nvPr>
            <p:ph idx="8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4" name="Google Shape;234;p15"/>
          <p:cNvSpPr txBox="1"/>
          <p:nvPr>
            <p:ph idx="9" type="body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5" name="Google Shape;235;p15"/>
          <p:cNvSpPr txBox="1"/>
          <p:nvPr>
            <p:ph idx="13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6" name="Google Shape;236;p15"/>
          <p:cNvSpPr txBox="1"/>
          <p:nvPr>
            <p:ph idx="14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7" name="Google Shape;237;p15"/>
          <p:cNvSpPr txBox="1"/>
          <p:nvPr>
            <p:ph idx="15" type="body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8" name="Google Shape;238;p15"/>
          <p:cNvSpPr txBox="1"/>
          <p:nvPr>
            <p:ph idx="16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39" name="Google Shape;239;p15"/>
          <p:cNvSpPr txBox="1"/>
          <p:nvPr>
            <p:ph idx="17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0" name="Google Shape;240;p15"/>
          <p:cNvSpPr txBox="1"/>
          <p:nvPr>
            <p:ph idx="18" type="body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794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indent="-2794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indent="-2794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indent="-2794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indent="-2794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indent="-2794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indent="-2794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indent="-2794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1" name="Google Shape;241;p15"/>
          <p:cNvSpPr txBox="1"/>
          <p:nvPr>
            <p:ph idx="1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42" name="Google Shape;242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3" name="Google Shape;243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46" name="Google Shape;246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7" name="Google Shape;247;p16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8" name="Google Shape;248;p16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49" name="Google Shape;249;p16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50" name="Google Shape;250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1" name="Google Shape;251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252" name="Google Shape;252;p16"/>
          <p:cNvSpPr/>
          <p:nvPr>
            <p:ph idx="5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p16"/>
          <p:cNvSpPr txBox="1"/>
          <p:nvPr>
            <p:ph idx="6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54" name="Google Shape;254;p16"/>
          <p:cNvSpPr txBox="1"/>
          <p:nvPr>
            <p:ph idx="7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5" name="Google Shape;255;p16"/>
          <p:cNvSpPr txBox="1"/>
          <p:nvPr>
            <p:ph idx="8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56" name="Google Shape;256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7" name="Google Shape;257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7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0" name="Google Shape;260;p17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61" name="Google Shape;261;p17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62" name="Google Shape;262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3" name="Google Shape;263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7" name="Google Shape;267;p17"/>
          <p:cNvSpPr/>
          <p:nvPr>
            <p:ph idx="4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7"/>
          <p:cNvSpPr txBox="1"/>
          <p:nvPr>
            <p:ph idx="5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9" name="Google Shape;269;p17"/>
          <p:cNvSpPr txBox="1"/>
          <p:nvPr>
            <p:ph idx="6" type="body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0" name="Google Shape;270;p17"/>
          <p:cNvSpPr txBox="1"/>
          <p:nvPr>
            <p:ph idx="7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1" name="Google Shape;271;p17"/>
          <p:cNvSpPr txBox="1"/>
          <p:nvPr>
            <p:ph idx="8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72" name="Google Shape;272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3" name="Google Shape;273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4" name="Google Shape;274;p17"/>
          <p:cNvSpPr txBox="1"/>
          <p:nvPr>
            <p:ph idx="9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75" name="Google Shape;275;p17"/>
          <p:cNvSpPr txBox="1"/>
          <p:nvPr>
            <p:ph idx="13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76" name="Google Shape;276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7" name="Google Shape;277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8" name="Google Shape;278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9" name="Google Shape;279;p17"/>
          <p:cNvSpPr txBox="1"/>
          <p:nvPr>
            <p:ph idx="14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0" name="Google Shape;280;p17"/>
          <p:cNvSpPr txBox="1"/>
          <p:nvPr>
            <p:ph idx="15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1" name="Google Shape;281;p17"/>
          <p:cNvSpPr txBox="1"/>
          <p:nvPr>
            <p:ph idx="16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2" name="Google Shape;282;p17"/>
          <p:cNvSpPr txBox="1"/>
          <p:nvPr>
            <p:ph idx="17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3" name="Google Shape;283;p17"/>
          <p:cNvSpPr txBox="1"/>
          <p:nvPr>
            <p:ph idx="18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4" name="Google Shape;284;p17"/>
          <p:cNvSpPr txBox="1"/>
          <p:nvPr>
            <p:ph idx="19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85" name="Google Shape;285;p17"/>
          <p:cNvSpPr txBox="1"/>
          <p:nvPr>
            <p:ph idx="20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6" name="Google Shape;286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8"/>
          <p:cNvSpPr txBox="1"/>
          <p:nvPr>
            <p:ph idx="1" type="body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90" name="Google Shape;290;p18"/>
          <p:cNvSpPr txBox="1"/>
          <p:nvPr>
            <p:ph idx="2" type="body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1" name="Google Shape;291;p18"/>
          <p:cNvSpPr txBox="1"/>
          <p:nvPr>
            <p:ph idx="3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92" name="Google Shape;292;p18"/>
          <p:cNvSpPr txBox="1"/>
          <p:nvPr>
            <p:ph idx="4" type="body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3" name="Google Shape;293;p18"/>
          <p:cNvSpPr txBox="1"/>
          <p:nvPr>
            <p:ph idx="5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94" name="Google Shape;294;p18"/>
          <p:cNvSpPr txBox="1"/>
          <p:nvPr>
            <p:ph idx="6" type="body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95" name="Google Shape;295;p18"/>
          <p:cNvSpPr txBox="1"/>
          <p:nvPr>
            <p:ph idx="7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6" name="Google Shape;296;p18"/>
          <p:cNvSpPr txBox="1"/>
          <p:nvPr>
            <p:ph idx="8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7" name="Google Shape;297;p18"/>
          <p:cNvSpPr txBox="1"/>
          <p:nvPr>
            <p:ph idx="9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298" name="Google Shape;298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9" name="Google Shape;299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00" name="Google Shape;300;p18"/>
          <p:cNvSpPr txBox="1"/>
          <p:nvPr>
            <p:ph idx="1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1" name="Google Shape;301;p18"/>
          <p:cNvSpPr txBox="1"/>
          <p:nvPr>
            <p:ph idx="1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2" name="Google Shape;302;p18"/>
          <p:cNvSpPr txBox="1"/>
          <p:nvPr>
            <p:ph idx="1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3" name="Google Shape;303;p18"/>
          <p:cNvSpPr txBox="1"/>
          <p:nvPr>
            <p:ph idx="1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04" name="Google Shape;304;p18"/>
          <p:cNvSpPr txBox="1"/>
          <p:nvPr>
            <p:ph idx="1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5" name="Google Shape;305;p18"/>
          <p:cNvSpPr txBox="1"/>
          <p:nvPr>
            <p:ph idx="1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6" name="Google Shape;306;p18"/>
          <p:cNvSpPr txBox="1"/>
          <p:nvPr>
            <p:ph idx="1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7" name="Google Shape;307;p18"/>
          <p:cNvSpPr txBox="1"/>
          <p:nvPr>
            <p:ph idx="20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308" name="Google Shape;308;p18"/>
          <p:cNvSpPr txBox="1"/>
          <p:nvPr>
            <p:ph idx="21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09" name="Google Shape;309;p18"/>
          <p:cNvSpPr txBox="1"/>
          <p:nvPr>
            <p:ph idx="22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0" name="Google Shape;310;p18"/>
          <p:cNvSpPr txBox="1"/>
          <p:nvPr>
            <p:ph idx="23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1" name="Google Shape;311;p18"/>
          <p:cNvSpPr txBox="1"/>
          <p:nvPr>
            <p:ph idx="24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2" name="Google Shape;312;p18"/>
          <p:cNvSpPr txBox="1"/>
          <p:nvPr>
            <p:ph idx="25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313" name="Google Shape;313;p18"/>
          <p:cNvSpPr txBox="1"/>
          <p:nvPr>
            <p:ph idx="26" type="body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314" name="Google Shape;314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5" name="Google Shape;315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9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8" name="Google Shape;318;p19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9" name="Google Shape;319;p19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320" name="Google Shape;320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1" name="Google Shape;321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3" name="Google Shape;323;p19"/>
          <p:cNvSpPr txBox="1"/>
          <p:nvPr>
            <p:ph idx="4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4" name="Google Shape;324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5" name="Google Shape;325;p19"/>
          <p:cNvSpPr txBox="1"/>
          <p:nvPr>
            <p:ph idx="5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6" name="Google Shape;326;p19"/>
          <p:cNvSpPr txBox="1"/>
          <p:nvPr>
            <p:ph idx="6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27" name="Google Shape;327;p19"/>
          <p:cNvSpPr txBox="1"/>
          <p:nvPr>
            <p:ph idx="7" type="title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/>
        </p:txBody>
      </p:sp>
      <p:sp>
        <p:nvSpPr>
          <p:cNvPr id="328" name="Google Shape;328;p19"/>
          <p:cNvSpPr txBox="1"/>
          <p:nvPr>
            <p:ph idx="8" type="title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329" name="Google Shape;329;p19"/>
          <p:cNvSpPr txBox="1"/>
          <p:nvPr>
            <p:ph idx="9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0" name="Google Shape;330;p19"/>
          <p:cNvSpPr txBox="1"/>
          <p:nvPr>
            <p:ph idx="13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1" name="Google Shape;331;p19"/>
          <p:cNvSpPr txBox="1"/>
          <p:nvPr>
            <p:ph idx="14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32" name="Google Shape;332;p19"/>
          <p:cNvSpPr txBox="1"/>
          <p:nvPr>
            <p:ph idx="15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5" name="Google Shape;335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0" name="Google Shape;340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3" name="Google Shape;343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44" name="Google Shape;344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9" name="Google Shape;349;p2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4" name="Google Shape;354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55" name="Google Shape;355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0" name="Google Shape;360;p2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4" name="Google Shape;364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5" name="Google Shape;365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6" name="Google Shape;366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7" name="Google Shape;367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8" name="Google Shape;368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69" name="Google Shape;369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2" name="Google Shape;372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3" name="Google Shape;373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76" name="Google Shape;376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7" name="Google Shape;377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78" name="Google Shape;378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9" name="Google Shape;379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2" name="Google Shape;382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83" name="Google Shape;383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4" name="Google Shape;384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5" name="Google Shape;385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6" name="Google Shape;386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7" name="Google Shape;387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0" name="Google Shape;390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1" name="Google Shape;391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2" name="Google Shape;392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93" name="Google Shape;393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4" name="Google Shape;394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5" name="Google Shape;395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6" name="Google Shape;396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97" name="Google Shape;397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0" name="Google Shape;400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3" name="Google Shape;403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06" name="Google Shape;40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7" name="Google Shape;407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08" name="Google Shape;408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1" name="Google Shape;411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3" name="Google Shape;413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4" name="Google Shape;414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16" name="Google Shape;416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7" name="Google Shape;417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8" name="Google Shape;418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9" name="Google Shape;419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4" name="Google Shape;424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9" name="Google Shape;429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0" name="Google Shape;430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2" name="Google Shape;432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theme" Target="../theme/theme2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" type="body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2" type="body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1.png"/><Relationship Id="rId4" Type="http://schemas.openxmlformats.org/officeDocument/2006/relationships/hyperlink" Target="https://quantum.cloud.ibm.com/composer" TargetMode="External"/><Relationship Id="rId5" Type="http://schemas.openxmlformats.org/officeDocument/2006/relationships/image" Target="../media/image8.png"/><Relationship Id="rId6" Type="http://schemas.openxmlformats.org/officeDocument/2006/relationships/hyperlink" Target="https://encrypted-tbn0.gstatic.com/images?q=tbn:ANd9GcT3erKKsqPT1_J8mIZSJO2prFKPLpZ8BU3R6w&amp;s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hyperlink" Target="https://arxiv.org/abs/1306.2164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arxiv.org/abs/1306.2164" TargetMode="External"/><Relationship Id="rId4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Relationship Id="rId4" Type="http://schemas.openxmlformats.org/officeDocument/2006/relationships/hyperlink" Target="https://arxiv.org/abs/2007.14822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excalidraw.com/" TargetMode="External"/><Relationship Id="rId4" Type="http://schemas.openxmlformats.org/officeDocument/2006/relationships/hyperlink" Target="https://www.overleaf.com/" TargetMode="External"/><Relationship Id="rId9" Type="http://schemas.openxmlformats.org/officeDocument/2006/relationships/image" Target="../media/image14.png"/><Relationship Id="rId5" Type="http://schemas.openxmlformats.org/officeDocument/2006/relationships/image" Target="../media/image6.png"/><Relationship Id="rId6" Type="http://schemas.openxmlformats.org/officeDocument/2006/relationships/image" Target="../media/image16.png"/><Relationship Id="rId7" Type="http://schemas.openxmlformats.org/officeDocument/2006/relationships/image" Target="../media/image13.png"/><Relationship Id="rId8" Type="http://schemas.openxmlformats.org/officeDocument/2006/relationships/image" Target="../media/image7.png"/><Relationship Id="rId10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hyperlink" Target="https://arxiv.org/abs/2002.01935v4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8.png"/><Relationship Id="rId4" Type="http://schemas.openxmlformats.org/officeDocument/2006/relationships/hyperlink" Target="https://mermaid.js.org/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1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hyperlink" Target="https://www.researchgate.net/figure/Multilevel-graph-partitioning-The-graph-is-recursively-contracted-to-achieve-smaller_fig1_305875072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2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www.overleaf.com/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4.png"/><Relationship Id="rId4" Type="http://schemas.openxmlformats.org/officeDocument/2006/relationships/hyperlink" Target="https://www.overleaf.com/" TargetMode="External"/><Relationship Id="rId5" Type="http://schemas.openxmlformats.org/officeDocument/2006/relationships/image" Target="../media/image1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overleaf.com/" TargetMode="External"/><Relationship Id="rId4" Type="http://schemas.openxmlformats.org/officeDocument/2006/relationships/hyperlink" Target="https://mermaid.js.org/" TargetMode="External"/><Relationship Id="rId5" Type="http://schemas.openxmlformats.org/officeDocument/2006/relationships/image" Target="../media/image28.png"/><Relationship Id="rId6" Type="http://schemas.openxmlformats.org/officeDocument/2006/relationships/image" Target="../media/image2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github.com/Dpbm/mestrado-aulas/tree/main/algoritmos/projeto-seminario" TargetMode="External"/><Relationship Id="rId4" Type="http://schemas.openxmlformats.org/officeDocument/2006/relationships/image" Target="../media/image2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1"/>
          <p:cNvSpPr txBox="1"/>
          <p:nvPr/>
        </p:nvSpPr>
        <p:spPr>
          <a:xfrm>
            <a:off x="468150" y="457200"/>
            <a:ext cx="7866900" cy="26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</a:t>
            </a:r>
            <a:b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 SIMULAÇÃO DE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CIRCUITOS QUÂNTICOS</a:t>
            </a:r>
            <a:endParaRPr b="1" sz="5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8" name="Google Shape;438;p41"/>
          <p:cNvSpPr txBox="1"/>
          <p:nvPr/>
        </p:nvSpPr>
        <p:spPr>
          <a:xfrm>
            <a:off x="541800" y="3013375"/>
            <a:ext cx="3198900" cy="2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Alexandre Silva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2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Roteiro: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4" name="Google Shape;444;p42"/>
          <p:cNvSpPr txBox="1"/>
          <p:nvPr/>
        </p:nvSpPr>
        <p:spPr>
          <a:xfrm>
            <a:off x="519600" y="1165375"/>
            <a:ext cx="7837800" cy="3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Contextualização sobre computação quântica;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o problema;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Entendendo Tensor Networks;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AutoNum type="arabicPeriod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 em si + Análises.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3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 que é a Computação Quântica?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0" name="Google Shape;450;p43"/>
          <p:cNvSpPr txBox="1"/>
          <p:nvPr/>
        </p:nvSpPr>
        <p:spPr>
          <a:xfrm>
            <a:off x="519600" y="1165375"/>
            <a:ext cx="7837800" cy="36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Utilizar a Mecânica Quântica para realizar computações;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Âtomos, partículas, fótons, elétrons, etc;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●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avanços;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73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Inter"/>
              <a:buChar char="○"/>
            </a:pPr>
            <a:r>
              <a:rPr lang="en" sz="2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Medicina, Farmácia, Criptografia, Machine Learning, etc.</a:t>
            </a:r>
            <a:endParaRPr sz="2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455;p44" title="circuit.png"/>
          <p:cNvPicPr preferRelativeResize="0"/>
          <p:nvPr/>
        </p:nvPicPr>
        <p:blipFill rotWithShape="1">
          <a:blip r:embed="rId3">
            <a:alphaModFix/>
          </a:blip>
          <a:srcRect b="19443" l="8551" r="5331" t="10440"/>
          <a:stretch/>
        </p:blipFill>
        <p:spPr>
          <a:xfrm>
            <a:off x="3773213" y="1566175"/>
            <a:ext cx="3149875" cy="160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44"/>
          <p:cNvSpPr txBox="1"/>
          <p:nvPr/>
        </p:nvSpPr>
        <p:spPr>
          <a:xfrm>
            <a:off x="3773213" y="31690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Autoria pr</a:t>
            </a: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ó</a:t>
            </a: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pria via </a:t>
            </a:r>
            <a:r>
              <a:rPr lang="en" sz="10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IBM Quantum Composer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57" name="Google Shape;457;p44"/>
          <p:cNvSpPr txBox="1"/>
          <p:nvPr/>
        </p:nvSpPr>
        <p:spPr>
          <a:xfrm>
            <a:off x="287075" y="1165375"/>
            <a:ext cx="3604500" cy="2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Circuito </a:t>
            </a: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é o</a:t>
            </a: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mais usado;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Portas são matrizes (operadores);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Linhas são qubits (vetores);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Inter"/>
              <a:buChar char="●"/>
            </a:pPr>
            <a:r>
              <a:rPr lang="en" sz="2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Matrizes evoluem o estado (vetor).</a:t>
            </a:r>
            <a:endParaRPr sz="2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58" name="Google Shape;458;p44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Computação Quântica: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59" name="Google Shape;459;p4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47013" y="1165375"/>
            <a:ext cx="1876425" cy="2438400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44"/>
          <p:cNvSpPr txBox="1"/>
          <p:nvPr/>
        </p:nvSpPr>
        <p:spPr>
          <a:xfrm>
            <a:off x="6908044" y="3603775"/>
            <a:ext cx="1959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0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ResearchGate</a:t>
            </a: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5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Problema: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6" name="Google Shape;466;p45"/>
          <p:cNvSpPr txBox="1"/>
          <p:nvPr/>
        </p:nvSpPr>
        <p:spPr>
          <a:xfrm>
            <a:off x="519600" y="1028700"/>
            <a:ext cx="8395800" cy="26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Computadores Quânticos ainda são limitados - Noisy Intermediate-Scale Quantum (NISQ);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Solução → Simulações para validar os algoritmos (HPC);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Simulações são custosas 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Possibilidade de estados cresce a N = 2</a:t>
            </a:r>
            <a:r>
              <a:rPr baseline="30000"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endParaRPr baseline="30000"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40 qubits -&gt; 2⁴⁰ ✕ 2³ bytes (float) = 2⁴³ bytes = 8Tb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67" name="Google Shape;467;p45" title="Wed Apr  8 02:16:1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800" y="3337800"/>
            <a:ext cx="6086475" cy="933450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45"/>
          <p:cNvSpPr txBox="1"/>
          <p:nvPr/>
        </p:nvSpPr>
        <p:spPr>
          <a:xfrm>
            <a:off x="2888688" y="439832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46"/>
          <p:cNvSpPr txBox="1"/>
          <p:nvPr/>
        </p:nvSpPr>
        <p:spPr>
          <a:xfrm>
            <a:off x="390750" y="296875"/>
            <a:ext cx="8233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Networks: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4" name="Google Shape;474;p46"/>
          <p:cNvSpPr txBox="1"/>
          <p:nvPr/>
        </p:nvSpPr>
        <p:spPr>
          <a:xfrm>
            <a:off x="390750" y="1028700"/>
            <a:ext cx="4181400" cy="325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 → Generalização de escalares, vetores, matrizes, etc;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Aplicar operações conforme necessário;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Tensors menores consomem menos memória;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Paralelizáveis.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5" name="Google Shape;475;p46"/>
          <p:cNvSpPr txBox="1"/>
          <p:nvPr/>
        </p:nvSpPr>
        <p:spPr>
          <a:xfrm>
            <a:off x="5369646" y="3881276"/>
            <a:ext cx="2877300" cy="321300"/>
          </a:xfrm>
          <a:prstGeom prst="rect">
            <a:avLst/>
          </a:prstGeom>
          <a:noFill/>
          <a:ln>
            <a:noFill/>
          </a:ln>
        </p:spPr>
        <p:txBody>
          <a:bodyPr anchorCtr="0" anchor="t" bIns="71925" lIns="71925" spcFirstLastPara="1" rIns="71925" wrap="square" tIns="71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4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4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arXiv:1306.2164</a:t>
            </a:r>
            <a:endParaRPr sz="124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476" name="Google Shape;476;p46" title="Wed Apr  8 02:24:49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4800" y="1165375"/>
            <a:ext cx="4086781" cy="2629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47"/>
          <p:cNvSpPr txBox="1"/>
          <p:nvPr/>
        </p:nvSpPr>
        <p:spPr>
          <a:xfrm>
            <a:off x="519600" y="296875"/>
            <a:ext cx="8104800" cy="8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Principais Operações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2" name="Google Shape;482;p47"/>
          <p:cNvSpPr txBox="1"/>
          <p:nvPr/>
        </p:nvSpPr>
        <p:spPr>
          <a:xfrm>
            <a:off x="519600" y="1076550"/>
            <a:ext cx="4052400" cy="3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Contrações (Unir tensors);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○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Sequência de contrações modifica o custo;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■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Mais índices mais operações e dimensões.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●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Decomposição;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○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SVD;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19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Inter"/>
              <a:buChar char="○"/>
            </a:pPr>
            <a:r>
              <a:rPr lang="en" sz="2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QR.</a:t>
            </a:r>
            <a:endParaRPr sz="2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83" name="Google Shape;483;p47" title="t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6450" y="1165375"/>
            <a:ext cx="4355975" cy="250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47"/>
          <p:cNvSpPr txBox="1"/>
          <p:nvPr/>
        </p:nvSpPr>
        <p:spPr>
          <a:xfrm>
            <a:off x="5761339" y="3777738"/>
            <a:ext cx="21054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52625" lIns="52625" spcFirstLastPara="1" rIns="52625" wrap="square" tIns="526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arXiv:2007.14822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48"/>
          <p:cNvSpPr txBox="1"/>
          <p:nvPr/>
        </p:nvSpPr>
        <p:spPr>
          <a:xfrm>
            <a:off x="2871775" y="437790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ão 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própria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Excalidraw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490" name="Google Shape;490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5250" y="638950"/>
            <a:ext cx="4107900" cy="147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p48" title="Wed Apr  8 03:19:35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5250" y="2824800"/>
            <a:ext cx="205740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48" title="Wed Apr  8 03:26:19 PM -03 2026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34113" y="945800"/>
            <a:ext cx="1209675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Google Shape;493;p48" title="Wed Apr  8 03:26:23 PM -03 202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43800" y="874362"/>
            <a:ext cx="2333625" cy="100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48" title="Wed Apr  8 03:31:02 PM -03 2026.png"/>
          <p:cNvPicPr preferRelativeResize="0"/>
          <p:nvPr/>
        </p:nvPicPr>
        <p:blipFill rotWithShape="1">
          <a:blip r:embed="rId9">
            <a:alphaModFix/>
          </a:blip>
          <a:srcRect b="7362" l="2714" r="1739" t="5613"/>
          <a:stretch/>
        </p:blipFill>
        <p:spPr>
          <a:xfrm>
            <a:off x="2842612" y="2743825"/>
            <a:ext cx="3628268" cy="10001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95" name="Google Shape;495;p48"/>
          <p:cNvCxnSpPr>
            <a:stCxn id="491" idx="3"/>
            <a:endCxn id="494" idx="1"/>
          </p:cNvCxnSpPr>
          <p:nvPr/>
        </p:nvCxnSpPr>
        <p:spPr>
          <a:xfrm>
            <a:off x="2512650" y="3243900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496" name="Google Shape;496;p48" title="Wed Apr  8 03:34:00 PM -03 2026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800825" y="2734312"/>
            <a:ext cx="1790700" cy="1019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97" name="Google Shape;497;p48"/>
          <p:cNvCxnSpPr/>
          <p:nvPr/>
        </p:nvCxnSpPr>
        <p:spPr>
          <a:xfrm>
            <a:off x="1031675" y="2115300"/>
            <a:ext cx="0" cy="7275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98" name="Google Shape;498;p48"/>
          <p:cNvCxnSpPr>
            <a:stCxn id="494" idx="3"/>
            <a:endCxn id="496" idx="1"/>
          </p:cNvCxnSpPr>
          <p:nvPr/>
        </p:nvCxnSpPr>
        <p:spPr>
          <a:xfrm>
            <a:off x="6470880" y="3243887"/>
            <a:ext cx="3300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9"/>
          <p:cNvSpPr txBox="1"/>
          <p:nvPr/>
        </p:nvSpPr>
        <p:spPr>
          <a:xfrm>
            <a:off x="519600" y="296875"/>
            <a:ext cx="81048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Custo de operações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4" name="Google Shape;504;p49"/>
          <p:cNvSpPr txBox="1"/>
          <p:nvPr/>
        </p:nvSpPr>
        <p:spPr>
          <a:xfrm>
            <a:off x="519600" y="1092475"/>
            <a:ext cx="4052700" cy="32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Medido em FLOPs;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Physical Dimensions (d);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Valores binários do sistema;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Constante;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●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Bond dimensions (D);</a:t>
            </a:r>
            <a:endParaRPr sz="2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Char char="○"/>
            </a:pPr>
            <a:r>
              <a:rPr lang="en" sz="2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Quantidade de entanglements (ligações).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05" name="Google Shape;505;p49" title="Wed Apr  8 03:31:02 PM -03 2026.png"/>
          <p:cNvPicPr preferRelativeResize="0"/>
          <p:nvPr/>
        </p:nvPicPr>
        <p:blipFill rotWithShape="1">
          <a:blip r:embed="rId3">
            <a:alphaModFix/>
          </a:blip>
          <a:srcRect b="7362" l="2714" r="1739" t="5613"/>
          <a:stretch/>
        </p:blipFill>
        <p:spPr>
          <a:xfrm>
            <a:off x="4522975" y="1531098"/>
            <a:ext cx="4394251" cy="1211260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49"/>
          <p:cNvSpPr txBox="1"/>
          <p:nvPr/>
        </p:nvSpPr>
        <p:spPr>
          <a:xfrm>
            <a:off x="4965850" y="2802852"/>
            <a:ext cx="3693900" cy="9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76075" lIns="76075" spcFirstLastPara="1" rIns="76075" wrap="square" tIns="760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 = 2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O(d) * O(d) = O(d</a:t>
            </a:r>
            <a:r>
              <a:rPr b="1" baseline="30000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3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FLOPs = d (2d - 1)</a:t>
            </a:r>
            <a:endParaRPr b="1" sz="233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50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Passos para Simular o Circuito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2" name="Google Shape;512;p50"/>
          <p:cNvSpPr txBox="1"/>
          <p:nvPr/>
        </p:nvSpPr>
        <p:spPr>
          <a:xfrm>
            <a:off x="558450" y="1090675"/>
            <a:ext cx="7933200" cy="32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Definição da rede (circuito);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Simplificação da rede;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contração;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AutoNum type="arabicPeriod"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Aplicação das contrações → resultado.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Obs: Grafos são dispersos (circuitos não são completamente interligados).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51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1 Simplificação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51"/>
          <p:cNvSpPr txBox="1"/>
          <p:nvPr/>
        </p:nvSpPr>
        <p:spPr>
          <a:xfrm>
            <a:off x="374800" y="948950"/>
            <a:ext cx="4497600" cy="39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Depende da estrutura da rede;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Simplificações -&gt; Absorção de tensors, SVD, etc. Tidos como ≈ O(1) (tempo);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Complexidade tempo: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O(d x n) ≈ O(n);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(passos) é pequeno</a:t>
            </a: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nodes n é mais expressivo;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●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Espaço: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Char char="○"/>
            </a:pPr>
            <a:r>
              <a:rPr lang="en"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Armazenamento reduz a cada iteração.</a:t>
            </a:r>
            <a:endParaRPr sz="1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9" name="Google Shape;519;p51"/>
          <p:cNvSpPr txBox="1"/>
          <p:nvPr/>
        </p:nvSpPr>
        <p:spPr>
          <a:xfrm>
            <a:off x="5137478" y="4060589"/>
            <a:ext cx="34245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85600" lIns="85600" spcFirstLastPara="1" rIns="85600" wrap="square" tIns="856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4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124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124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20" name="Google Shape;520;p51" title="Wed Apr 15 08:42:07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375" y="1454975"/>
            <a:ext cx="3666708" cy="2241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2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 pelo melhor caminho de contração (Hyper-Par)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6" name="Google Shape;526;p52"/>
          <p:cNvSpPr txBox="1"/>
          <p:nvPr/>
        </p:nvSpPr>
        <p:spPr>
          <a:xfrm>
            <a:off x="558450" y="1323750"/>
            <a:ext cx="4537200" cy="30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Repartição de subárvores;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Algoritmos ótimos nas subárvores (Optimal/Greedy) → Problemas menores;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●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Parâmetros de balanceamento (ε), repartições (k) e cut-off;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○"/>
            </a:pPr>
            <a:r>
              <a:rPr lang="en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Sample de parâmetros.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27" name="Google Shape;527;p52" title="Thu Apr  9 11:17:06 A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59363" y="1261125"/>
            <a:ext cx="3094396" cy="2927542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52"/>
          <p:cNvSpPr txBox="1"/>
          <p:nvPr/>
        </p:nvSpPr>
        <p:spPr>
          <a:xfrm>
            <a:off x="4985250" y="4188675"/>
            <a:ext cx="3657600" cy="3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	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arXiv:2002.01935v4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29" name="Google Shape;529;p52"/>
          <p:cNvCxnSpPr/>
          <p:nvPr/>
        </p:nvCxnSpPr>
        <p:spPr>
          <a:xfrm rot="10800000">
            <a:off x="8447138" y="1303876"/>
            <a:ext cx="21600" cy="2867700"/>
          </a:xfrm>
          <a:prstGeom prst="straightConnector1">
            <a:avLst/>
          </a:prstGeom>
          <a:noFill/>
          <a:ln cap="flat" cmpd="sng" w="517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" name="Google Shape;534;p53" title="Thu Apr  9 12:54:17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71371" y="995000"/>
            <a:ext cx="4201246" cy="315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53"/>
          <p:cNvSpPr/>
          <p:nvPr/>
        </p:nvSpPr>
        <p:spPr>
          <a:xfrm>
            <a:off x="6961675" y="994925"/>
            <a:ext cx="263100" cy="31536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36" name="Google Shape;536;p53"/>
          <p:cNvSpPr/>
          <p:nvPr/>
        </p:nvSpPr>
        <p:spPr>
          <a:xfrm>
            <a:off x="2329800" y="3070150"/>
            <a:ext cx="4440600" cy="558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37" name="Google Shape;537;p53"/>
          <p:cNvSpPr txBox="1"/>
          <p:nvPr/>
        </p:nvSpPr>
        <p:spPr>
          <a:xfrm>
            <a:off x="924900" y="2913400"/>
            <a:ext cx="140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Cut-off ou |V| = 1</a:t>
            </a:r>
            <a:endParaRPr b="1" sz="12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38" name="Google Shape;538;p53"/>
          <p:cNvSpPr txBox="1"/>
          <p:nvPr/>
        </p:nvSpPr>
        <p:spPr>
          <a:xfrm>
            <a:off x="2743200" y="46342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39" name="Google Shape;539;p53"/>
          <p:cNvSpPr txBox="1"/>
          <p:nvPr/>
        </p:nvSpPr>
        <p:spPr>
          <a:xfrm>
            <a:off x="3765750" y="457200"/>
            <a:ext cx="1706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Todo o Grafo</a:t>
            </a:r>
            <a:endParaRPr b="1" sz="20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40" name="Google Shape;540;p53"/>
          <p:cNvSpPr txBox="1"/>
          <p:nvPr/>
        </p:nvSpPr>
        <p:spPr>
          <a:xfrm>
            <a:off x="3696900" y="4193700"/>
            <a:ext cx="17064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Partições</a:t>
            </a:r>
            <a:endParaRPr b="1" sz="20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41" name="Google Shape;541;p53"/>
          <p:cNvSpPr txBox="1"/>
          <p:nvPr/>
        </p:nvSpPr>
        <p:spPr>
          <a:xfrm>
            <a:off x="623400" y="799375"/>
            <a:ext cx="17064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Esse é o caminho das contrações.</a:t>
            </a:r>
            <a:endParaRPr sz="16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Urbanist"/>
                <a:ea typeface="Urbanist"/>
                <a:cs typeface="Urbanist"/>
                <a:sym typeface="Urbanist"/>
              </a:rPr>
              <a:t>Melhor repartição dará o melhor caminho.</a:t>
            </a:r>
            <a:endParaRPr sz="1600">
              <a:solidFill>
                <a:srgbClr val="FF0000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54"/>
          <p:cNvSpPr txBox="1"/>
          <p:nvPr/>
        </p:nvSpPr>
        <p:spPr>
          <a:xfrm>
            <a:off x="4891288" y="41860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47" name="Google Shape;547;p54"/>
          <p:cNvSpPr txBox="1"/>
          <p:nvPr/>
        </p:nvSpPr>
        <p:spPr>
          <a:xfrm>
            <a:off x="558200" y="861825"/>
            <a:ext cx="4162800" cy="35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 * ε * cut * (V + cost));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■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O(V + cost);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Partition é a parte mais custosa;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Custo é apenas O(n) → calcula o custo de cada nó e soma.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O(n) → tamanho do grafo.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48" name="Google Shape;548;p54"/>
          <p:cNvSpPr txBox="1"/>
          <p:nvPr/>
        </p:nvSpPr>
        <p:spPr>
          <a:xfrm>
            <a:off x="519600" y="228600"/>
            <a:ext cx="8104800" cy="7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2.1 </a:t>
            </a: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Hyper-Par Algoritmo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49" name="Google Shape;549;p54" title="Wed Apr 15 08:42:3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2725" y="1463438"/>
            <a:ext cx="3714750" cy="220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55"/>
          <p:cNvSpPr txBox="1"/>
          <p:nvPr/>
        </p:nvSpPr>
        <p:spPr>
          <a:xfrm>
            <a:off x="4891288" y="4090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55" name="Google Shape;555;p55"/>
          <p:cNvSpPr txBox="1"/>
          <p:nvPr/>
        </p:nvSpPr>
        <p:spPr>
          <a:xfrm>
            <a:off x="366825" y="813450"/>
            <a:ext cx="4488900" cy="354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Criação da árvore via recursão (bipartição);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KaHyPar sempre executa;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Opt é custoso (quando n grande);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j *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O(KaHyPar)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h* O(Opt)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2" marL="1371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■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○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 → children (todos os nós);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56" name="Google Shape;556;p55" title="Wed Apr 15 08:43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31850" y="349700"/>
            <a:ext cx="3983551" cy="3740651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55"/>
          <p:cNvSpPr txBox="1"/>
          <p:nvPr/>
        </p:nvSpPr>
        <p:spPr>
          <a:xfrm>
            <a:off x="472650" y="228600"/>
            <a:ext cx="8104800" cy="7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2.2 Partiç</a:t>
            </a: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ão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56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3" name="Google Shape;563;p56"/>
          <p:cNvSpPr txBox="1"/>
          <p:nvPr/>
        </p:nvSpPr>
        <p:spPr>
          <a:xfrm>
            <a:off x="423875" y="803075"/>
            <a:ext cx="4735500" cy="40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Calcula o custo de cada nó;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Probabilidade de escolher um pior;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tempo: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○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O(n³);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Complexidade espaço: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○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</a:t>
            </a: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→ pares;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"/>
              <a:buChar char="●"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 deve ser pequeno.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4" name="Google Shape;564;p56"/>
          <p:cNvSpPr txBox="1"/>
          <p:nvPr/>
        </p:nvSpPr>
        <p:spPr>
          <a:xfrm>
            <a:off x="279125" y="18925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2.3 Hyper-Greedy Opt.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65" name="Google Shape;565;p56" title="Wed Apr 15 08:44:00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87675" y="397375"/>
            <a:ext cx="2852750" cy="4013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57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71" name="Google Shape;571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150" y="1574563"/>
            <a:ext cx="4521026" cy="1994382"/>
          </a:xfrm>
          <a:prstGeom prst="rect">
            <a:avLst/>
          </a:prstGeom>
          <a:noFill/>
          <a:ln>
            <a:noFill/>
          </a:ln>
        </p:spPr>
      </p:pic>
      <p:sp>
        <p:nvSpPr>
          <p:cNvPr id="572" name="Google Shape;572;p57"/>
          <p:cNvSpPr txBox="1"/>
          <p:nvPr/>
        </p:nvSpPr>
        <p:spPr>
          <a:xfrm>
            <a:off x="4749875" y="35323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ResearchGate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3" name="Google Shape;573;p57"/>
          <p:cNvSpPr txBox="1"/>
          <p:nvPr/>
        </p:nvSpPr>
        <p:spPr>
          <a:xfrm>
            <a:off x="366825" y="413350"/>
            <a:ext cx="3951300" cy="391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Multilevel graph partitioning (KaHyPar);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Reduz o grafo;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Particiona;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AutoNum type="arabicPeriod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Realiza o caminho inverso;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Na pr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ática: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Usa m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ú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lti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plos algoritmos (Portifólio);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Hypergraphs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;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68300" lvl="0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Urbanist"/>
              <a:buChar char="●"/>
            </a:pP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Pré-processamento e 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otimização</a:t>
            </a:r>
            <a:r>
              <a:rPr lang="en" sz="2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2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58"/>
          <p:cNvSpPr txBox="1"/>
          <p:nvPr/>
        </p:nvSpPr>
        <p:spPr>
          <a:xfrm>
            <a:off x="4891288" y="4650950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9" name="Google Shape;579;p58"/>
          <p:cNvSpPr txBox="1"/>
          <p:nvPr/>
        </p:nvSpPr>
        <p:spPr>
          <a:xfrm>
            <a:off x="2423700" y="885150"/>
            <a:ext cx="2711100" cy="9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O(e</a:t>
            </a:r>
            <a:r>
              <a:rPr baseline="-25000"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O(g) </a:t>
            </a:r>
            <a:endParaRPr sz="2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80" name="Google Shape;580;p58"/>
          <p:cNvSpPr txBox="1"/>
          <p:nvPr/>
        </p:nvSpPr>
        <p:spPr>
          <a:xfrm>
            <a:off x="1350050" y="2185000"/>
            <a:ext cx="33327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= 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+e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O(e</a:t>
            </a:r>
            <a:r>
              <a:rPr baseline="-25000"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21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1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81" name="Google Shape;581;p58"/>
          <p:cNvSpPr txBox="1"/>
          <p:nvPr/>
        </p:nvSpPr>
        <p:spPr>
          <a:xfrm>
            <a:off x="1698550" y="3448075"/>
            <a:ext cx="2440200" cy="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O(e</a:t>
            </a:r>
            <a:r>
              <a:rPr baseline="-25000"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sz="2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Diminui</a:t>
            </a:r>
            <a:endParaRPr sz="2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82" name="Google Shape;582;p58" title="Thu Apr 16 11:19:44 A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8950" y="194150"/>
            <a:ext cx="2242450" cy="44363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83" name="Google Shape;583;p58"/>
          <p:cNvCxnSpPr/>
          <p:nvPr/>
        </p:nvCxnSpPr>
        <p:spPr>
          <a:xfrm flipH="1" rot="10800000">
            <a:off x="4641100" y="382600"/>
            <a:ext cx="893400" cy="4866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584" name="Google Shape;584;p58"/>
          <p:cNvCxnSpPr/>
          <p:nvPr/>
        </p:nvCxnSpPr>
        <p:spPr>
          <a:xfrm flipH="1" rot="10800000">
            <a:off x="4218450" y="2360400"/>
            <a:ext cx="1371600" cy="2631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85" name="Google Shape;585;p58"/>
          <p:cNvSpPr txBox="1"/>
          <p:nvPr/>
        </p:nvSpPr>
        <p:spPr>
          <a:xfrm>
            <a:off x="622000" y="299800"/>
            <a:ext cx="45933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2.4.1 Auxiliares</a:t>
            </a:r>
            <a:endParaRPr sz="25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86" name="Google Shape;586;p58"/>
          <p:cNvCxnSpPr/>
          <p:nvPr/>
        </p:nvCxnSpPr>
        <p:spPr>
          <a:xfrm flipH="1" rot="10800000">
            <a:off x="3835700" y="3014250"/>
            <a:ext cx="1698600" cy="7098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59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2" name="Google Shape;592;p59"/>
          <p:cNvSpPr txBox="1"/>
          <p:nvPr/>
        </p:nvSpPr>
        <p:spPr>
          <a:xfrm>
            <a:off x="366825" y="661875"/>
            <a:ext cx="4464900" cy="42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Shuffle gera resultados diferentes;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Procura por pequenos clusters.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n=nodes; g=neighbors; e=edges; v=vertices;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* 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(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ge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+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)) 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nós conectados (threshold alto):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v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g=n-1;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 e</a:t>
            </a:r>
            <a:r>
              <a:rPr baseline="-25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=n;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</a:t>
            </a:r>
            <a:r>
              <a:rPr baseline="30000"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3</a:t>
            </a: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Caso mais real: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Todos os valores são pequenos;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→ O(n);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Char char="●"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O(n).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3" name="Google Shape;593;p59"/>
          <p:cNvSpPr txBox="1"/>
          <p:nvPr/>
        </p:nvSpPr>
        <p:spPr>
          <a:xfrm>
            <a:off x="4985238" y="4479575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594" name="Google Shape;594;p59" title="Wed Apr 15 08:45:32 PM -03 20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5250" y="240200"/>
            <a:ext cx="4007474" cy="4091374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59"/>
          <p:cNvSpPr txBox="1"/>
          <p:nvPr/>
        </p:nvSpPr>
        <p:spPr>
          <a:xfrm>
            <a:off x="279125" y="14940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2.4.2 Coarsening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0" name="Google Shape;600;p60" title="Wed Apr 15 08:47:56 PM -03 20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9350" y="317525"/>
            <a:ext cx="2726700" cy="4180158"/>
          </a:xfrm>
          <a:prstGeom prst="rect">
            <a:avLst/>
          </a:prstGeom>
          <a:noFill/>
          <a:ln>
            <a:noFill/>
          </a:ln>
        </p:spPr>
      </p:pic>
      <p:sp>
        <p:nvSpPr>
          <p:cNvPr id="601" name="Google Shape;601;p60"/>
          <p:cNvSpPr txBox="1"/>
          <p:nvPr/>
        </p:nvSpPr>
        <p:spPr>
          <a:xfrm>
            <a:off x="2982863" y="4605663"/>
            <a:ext cx="36576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2" name="Google Shape;602;p60"/>
          <p:cNvSpPr txBox="1"/>
          <p:nvPr/>
        </p:nvSpPr>
        <p:spPr>
          <a:xfrm>
            <a:off x="4742400" y="1408600"/>
            <a:ext cx="1762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603" name="Google Shape;603;p60"/>
          <p:cNvCxnSpPr/>
          <p:nvPr/>
        </p:nvCxnSpPr>
        <p:spPr>
          <a:xfrm flipH="1" rot="10800000">
            <a:off x="5578500" y="510375"/>
            <a:ext cx="482100" cy="837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04" name="Google Shape;604;p60"/>
          <p:cNvSpPr txBox="1"/>
          <p:nvPr/>
        </p:nvSpPr>
        <p:spPr>
          <a:xfrm>
            <a:off x="612325" y="3863900"/>
            <a:ext cx="1524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O(n)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 sz="17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5" name="Google Shape;605;p60"/>
          <p:cNvSpPr txBox="1"/>
          <p:nvPr/>
        </p:nvSpPr>
        <p:spPr>
          <a:xfrm>
            <a:off x="309600" y="1654488"/>
            <a:ext cx="20202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≈ 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 n) (Considerando coarsening ≈ 1/2</a:t>
            </a:r>
            <a:r>
              <a:rPr baseline="30000"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k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), na pr</a:t>
            </a: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ática ≈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 O(n)</a:t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6" name="Google Shape;606;p60"/>
          <p:cNvSpPr txBox="1"/>
          <p:nvPr/>
        </p:nvSpPr>
        <p:spPr>
          <a:xfrm>
            <a:off x="612325" y="621225"/>
            <a:ext cx="2430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= </a:t>
            </a: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O(n log n) </a:t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= O(n)</a:t>
            </a: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07" name="Google Shape;607;p60" title="Wed Apr 15 08:49:24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07263" y="88688"/>
            <a:ext cx="2168425" cy="45169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8" name="Google Shape;608;p60"/>
          <p:cNvCxnSpPr/>
          <p:nvPr/>
        </p:nvCxnSpPr>
        <p:spPr>
          <a:xfrm flipH="1" rot="10800000">
            <a:off x="1837375" y="1706500"/>
            <a:ext cx="746400" cy="2871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09" name="Google Shape;609;p60"/>
          <p:cNvCxnSpPr/>
          <p:nvPr/>
        </p:nvCxnSpPr>
        <p:spPr>
          <a:xfrm flipH="1" rot="10800000">
            <a:off x="2272700" y="311050"/>
            <a:ext cx="350700" cy="4545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610" name="Google Shape;610;p60"/>
          <p:cNvCxnSpPr>
            <a:stCxn id="604" idx="3"/>
          </p:cNvCxnSpPr>
          <p:nvPr/>
        </p:nvCxnSpPr>
        <p:spPr>
          <a:xfrm flipH="1" rot="10800000">
            <a:off x="2136925" y="3827600"/>
            <a:ext cx="462600" cy="390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11" name="Google Shape;611;p60"/>
          <p:cNvSpPr txBox="1"/>
          <p:nvPr/>
        </p:nvSpPr>
        <p:spPr>
          <a:xfrm>
            <a:off x="175450" y="181275"/>
            <a:ext cx="7479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2.4.4 Bipartitioning</a:t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61"/>
          <p:cNvSpPr txBox="1"/>
          <p:nvPr/>
        </p:nvSpPr>
        <p:spPr>
          <a:xfrm>
            <a:off x="781175" y="738775"/>
            <a:ext cx="3537000" cy="35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7" name="Google Shape;617;p61"/>
          <p:cNvSpPr txBox="1"/>
          <p:nvPr/>
        </p:nvSpPr>
        <p:spPr>
          <a:xfrm>
            <a:off x="366825" y="738775"/>
            <a:ext cx="8359500" cy="41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A contração segue a árvore criada;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Tempo → O(n * 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);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Char char="●"/>
            </a:pP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Espaço → O(2</a:t>
            </a:r>
            <a:r>
              <a:rPr baseline="30000"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</a:t>
            </a:r>
            <a:r>
              <a:rPr lang="en" sz="18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) armazenamento dos tensors (possuem tamanhos diferentes).</a:t>
            </a:r>
            <a:endParaRPr sz="18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18" name="Google Shape;618;p61"/>
          <p:cNvSpPr txBox="1"/>
          <p:nvPr/>
        </p:nvSpPr>
        <p:spPr>
          <a:xfrm>
            <a:off x="1491237" y="4479575"/>
            <a:ext cx="7151700" cy="4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Fonte: Criação própria via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Overleaf</a:t>
            </a:r>
            <a:r>
              <a:rPr lang="en"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" sz="1200" u="sng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Mermaid</a:t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19" name="Google Shape;619;p61" title="Thu Apr  9 12:54:17 PM -03 202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84486" y="2057900"/>
            <a:ext cx="2931550" cy="22004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0" name="Google Shape;620;p61"/>
          <p:cNvCxnSpPr/>
          <p:nvPr/>
        </p:nvCxnSpPr>
        <p:spPr>
          <a:xfrm rot="10800000">
            <a:off x="933588" y="2169125"/>
            <a:ext cx="0" cy="1937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621" name="Google Shape;621;p61" title="Wed Apr 15 08:35:56 PM -03 202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09663" y="2273477"/>
            <a:ext cx="3894650" cy="17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Google Shape;622;p61"/>
          <p:cNvSpPr txBox="1"/>
          <p:nvPr/>
        </p:nvSpPr>
        <p:spPr>
          <a:xfrm>
            <a:off x="518375" y="149400"/>
            <a:ext cx="7479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3 Contração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62"/>
          <p:cNvSpPr txBox="1"/>
          <p:nvPr/>
        </p:nvSpPr>
        <p:spPr>
          <a:xfrm>
            <a:off x="519600" y="296875"/>
            <a:ext cx="81048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Considerações Finais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8" name="Google Shape;628;p62"/>
          <p:cNvSpPr txBox="1"/>
          <p:nvPr/>
        </p:nvSpPr>
        <p:spPr>
          <a:xfrm>
            <a:off x="558450" y="940975"/>
            <a:ext cx="7926300" cy="34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Caminho → limitante é o KaHyPar ≈ O(n log n);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Contração → limitante é a dimensão D 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≈ 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O(n * 2</a:t>
            </a:r>
            <a:r>
              <a:rPr baseline="30000"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Espaço → O(2</a:t>
            </a:r>
            <a:r>
              <a:rPr baseline="30000"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), quando D é pequeno → O(n);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Em casos reais (melhorias):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Paralelização e aceleradores;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○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Uso de 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múltiplas</a:t>
            </a: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funções de otimização;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●"/>
            </a:pPr>
            <a:r>
              <a:rPr lang="en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Algoritmo busca melhor caminho para diminuir D.</a:t>
            </a:r>
            <a:endParaRPr sz="24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3"/>
          <p:cNvSpPr txBox="1"/>
          <p:nvPr/>
        </p:nvSpPr>
        <p:spPr>
          <a:xfrm>
            <a:off x="519600" y="853650"/>
            <a:ext cx="4935600" cy="7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Repositório</a:t>
            </a:r>
            <a:endParaRPr sz="3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4" name="Google Shape;634;p63"/>
          <p:cNvSpPr txBox="1"/>
          <p:nvPr/>
        </p:nvSpPr>
        <p:spPr>
          <a:xfrm>
            <a:off x="571800" y="1983100"/>
            <a:ext cx="4831200" cy="18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u="sng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https://github.com/Dpbm/mestrado-aulas/tree/main/algoritmos/projeto-seminario</a:t>
            </a:r>
            <a:endParaRPr sz="2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5" name="Google Shape;635;p63" title="qrcode_github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5200" y="853650"/>
            <a:ext cx="3436200" cy="343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64"/>
          <p:cNvSpPr txBox="1"/>
          <p:nvPr/>
        </p:nvSpPr>
        <p:spPr>
          <a:xfrm>
            <a:off x="385950" y="96475"/>
            <a:ext cx="77634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Referências</a:t>
            </a:r>
            <a:endParaRPr sz="24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1" name="Google Shape;641;p64"/>
          <p:cNvSpPr txBox="1"/>
          <p:nvPr/>
        </p:nvSpPr>
        <p:spPr>
          <a:xfrm>
            <a:off x="385950" y="622000"/>
            <a:ext cx="8529600" cy="42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FISHMAN, M.; WHITE, S.; STOUDENMIRE, E. The ITensor Software Library for Tensor Network Calculations. SciPost Physics Codebases, p. 004, 23 ago. 2022.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Overview — NVIDIA cuQuantum 23.06.0 documentation. Disponível em: &lt;https://docs.nvidia.com/cuda/cuquantum/23.06.0/cutensornet/overview.html&gt;. Acesso em: 4 abr. 2026.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SCHINDLER, F.; JERMYN, A. S. Algorithms for tensor network contraction ordering. Machine Learning: Science and Technology, v. 1, n. 3, p. 035001, 2 jul. 2020.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BRIDGEMAN, J. C.; CHUBB, C. T. Hand-waving and interpretive dance: an introductory course on tensor networks. v. 50, n. 22, p. 223001–223001, 9 mar. 2016.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NGUYEN, T. et al. Tensor Network Quantum Virtual Machine for Simulating Quantum Circuits at Exascale. ACM Transactions on Quantum Computing, v. 4, n. 1, p. 1–21, 21 out. 2022.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ORÚS, R. A practical introduction to tensor networks: Matrix product states and projected entangled pair states. Annals of Physics, v. 349, p. 117–158, out. 2014.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GRAY, J.; KOURTIS, S. Hyper-optimized tensor network contraction. Quantum, v. 5, p. 410, 15 mar. 2021.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SCHLAG, S. et al. High-Quality Hypergraph Partitioning. ACM Journal of Experimental Algorithmics, v. 27, p. 1–39, 21 abr. 2022.</a:t>
            </a:r>
            <a:endParaRPr sz="16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