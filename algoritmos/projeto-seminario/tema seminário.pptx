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Lst>
  <p:sldSz cx="18288000" cy="10287000"/>
  <p:notesSz cx="6858000" cy="9144000"/>
  <p:embeddedFontLst>
    <p:embeddedFont>
      <p:font typeface="Canva Sans" charset="1" panose="020B0503030501040103"/>
      <p:regular r:id="rId9"/>
    </p:embeddedFont>
    <p:embeddedFont>
      <p:font typeface="Canva Sans Bold" charset="1" panose="020B0803030501040103"/>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gradFill rotWithShape="true">
          <a:gsLst>
            <a:gs pos="0">
              <a:srgbClr val="000000">
                <a:alpha val="100000"/>
              </a:srgbClr>
            </a:gs>
            <a:gs pos="100000">
              <a:srgbClr val="3432C7">
                <a:alpha val="100000"/>
              </a:srgbClr>
            </a:gs>
          </a:gsLst>
          <a:lin ang="16200000"/>
        </a:gradFill>
      </p:bgPr>
    </p:bg>
    <p:spTree>
      <p:nvGrpSpPr>
        <p:cNvPr id="1" name=""/>
        <p:cNvGrpSpPr/>
        <p:nvPr/>
      </p:nvGrpSpPr>
      <p:grpSpPr>
        <a:xfrm>
          <a:off x="0" y="0"/>
          <a:ext cx="0" cy="0"/>
          <a:chOff x="0" y="0"/>
          <a:chExt cx="0" cy="0"/>
        </a:xfrm>
      </p:grpSpPr>
      <p:sp>
        <p:nvSpPr>
          <p:cNvPr name="TextBox 2" id="2"/>
          <p:cNvSpPr txBox="true"/>
          <p:nvPr/>
        </p:nvSpPr>
        <p:spPr>
          <a:xfrm rot="0">
            <a:off x="6810458" y="6050907"/>
            <a:ext cx="4667085" cy="854109"/>
          </a:xfrm>
          <a:prstGeom prst="rect">
            <a:avLst/>
          </a:prstGeom>
        </p:spPr>
        <p:txBody>
          <a:bodyPr anchor="t" rtlCol="false" tIns="0" lIns="0" bIns="0" rIns="0">
            <a:spAutoFit/>
          </a:bodyPr>
          <a:lstStyle/>
          <a:p>
            <a:pPr algn="ctr">
              <a:lnSpc>
                <a:spcPts val="6999"/>
              </a:lnSpc>
              <a:spcBef>
                <a:spcPct val="0"/>
              </a:spcBef>
            </a:pPr>
            <a:r>
              <a:rPr lang="en-US" sz="4999">
                <a:solidFill>
                  <a:srgbClr val="FFFFFF"/>
                </a:solidFill>
                <a:latin typeface="Canva Sans"/>
                <a:ea typeface="Canva Sans"/>
                <a:cs typeface="Canva Sans"/>
                <a:sym typeface="Canva Sans"/>
              </a:rPr>
              <a:t>Alexandre Silva</a:t>
            </a:r>
          </a:p>
        </p:txBody>
      </p:sp>
      <p:sp>
        <p:nvSpPr>
          <p:cNvPr name="TextBox 3" id="3"/>
          <p:cNvSpPr txBox="true"/>
          <p:nvPr/>
        </p:nvSpPr>
        <p:spPr>
          <a:xfrm rot="0">
            <a:off x="1819761" y="3289835"/>
            <a:ext cx="14648478" cy="2067059"/>
          </a:xfrm>
          <a:prstGeom prst="rect">
            <a:avLst/>
          </a:prstGeom>
        </p:spPr>
        <p:txBody>
          <a:bodyPr anchor="t" rtlCol="false" tIns="0" lIns="0" bIns="0" rIns="0">
            <a:spAutoFit/>
          </a:bodyPr>
          <a:lstStyle/>
          <a:p>
            <a:pPr algn="ctr">
              <a:lnSpc>
                <a:spcPts val="8399"/>
              </a:lnSpc>
              <a:spcBef>
                <a:spcPct val="0"/>
              </a:spcBef>
            </a:pPr>
            <a:r>
              <a:rPr lang="en-US" b="true" sz="5999">
                <a:solidFill>
                  <a:srgbClr val="FFFFFF"/>
                </a:solidFill>
                <a:latin typeface="Canva Sans Bold"/>
                <a:ea typeface="Canva Sans Bold"/>
                <a:cs typeface="Canva Sans Bold"/>
                <a:sym typeface="Canva Sans Bold"/>
              </a:rPr>
              <a:t>Tensor Networks for Quantum Circuit Simulation</a:t>
            </a:r>
          </a:p>
        </p:txBody>
      </p:sp>
    </p:spTree>
  </p:cSld>
  <p:clrMapOvr>
    <a:masterClrMapping/>
  </p:clrMapOvr>
</p:sld>
</file>

<file path=ppt/slides/slide2.xml><?xml version="1.0" encoding="utf-8"?>
<p:sld xmlns:p="http://schemas.openxmlformats.org/presentationml/2006/main" xmlns:a="http://schemas.openxmlformats.org/drawingml/2006/main">
  <p:cSld>
    <p:bg>
      <p:bgPr>
        <a:gradFill rotWithShape="true">
          <a:gsLst>
            <a:gs pos="0">
              <a:srgbClr val="000000">
                <a:alpha val="100000"/>
              </a:srgbClr>
            </a:gs>
            <a:gs pos="100000">
              <a:srgbClr val="3432C7">
                <a:alpha val="100000"/>
              </a:srgbClr>
            </a:gs>
          </a:gsLst>
          <a:lin ang="16200000"/>
        </a:gradFill>
      </p:bgPr>
    </p:bg>
    <p:spTree>
      <p:nvGrpSpPr>
        <p:cNvPr id="1" name=""/>
        <p:cNvGrpSpPr/>
        <p:nvPr/>
      </p:nvGrpSpPr>
      <p:grpSpPr>
        <a:xfrm>
          <a:off x="0" y="0"/>
          <a:ext cx="0" cy="0"/>
          <a:chOff x="0" y="0"/>
          <a:chExt cx="0" cy="0"/>
        </a:xfrm>
      </p:grpSpPr>
      <p:sp>
        <p:nvSpPr>
          <p:cNvPr name="TextBox 2" id="2"/>
          <p:cNvSpPr txBox="true"/>
          <p:nvPr/>
        </p:nvSpPr>
        <p:spPr>
          <a:xfrm rot="0">
            <a:off x="1028700" y="2445827"/>
            <a:ext cx="16230600" cy="5612871"/>
          </a:xfrm>
          <a:prstGeom prst="rect">
            <a:avLst/>
          </a:prstGeom>
        </p:spPr>
        <p:txBody>
          <a:bodyPr anchor="t" rtlCol="false" tIns="0" lIns="0" bIns="0" rIns="0">
            <a:spAutoFit/>
          </a:bodyPr>
          <a:lstStyle/>
          <a:p>
            <a:pPr algn="l" marL="863596" indent="-431798" lvl="1">
              <a:lnSpc>
                <a:spcPts val="5599"/>
              </a:lnSpc>
              <a:buFont typeface="Arial"/>
              <a:buChar char="•"/>
            </a:pPr>
            <a:r>
              <a:rPr lang="en-US" sz="3999">
                <a:solidFill>
                  <a:srgbClr val="FFFFFF"/>
                </a:solidFill>
                <a:latin typeface="Canva Sans"/>
                <a:ea typeface="Canva Sans"/>
                <a:cs typeface="Canva Sans"/>
                <a:sym typeface="Canva Sans"/>
              </a:rPr>
              <a:t>Computadores quânticos são, ainda, limitados.</a:t>
            </a:r>
          </a:p>
          <a:p>
            <a:pPr algn="l" marL="863596" indent="-431798" lvl="1">
              <a:lnSpc>
                <a:spcPts val="5599"/>
              </a:lnSpc>
              <a:buFont typeface="Arial"/>
              <a:buChar char="•"/>
            </a:pPr>
            <a:r>
              <a:rPr lang="en-US" sz="3999">
                <a:solidFill>
                  <a:srgbClr val="FFFFFF"/>
                </a:solidFill>
                <a:latin typeface="Canva Sans"/>
                <a:ea typeface="Canva Sans"/>
                <a:cs typeface="Canva Sans"/>
                <a:sym typeface="Canva Sans"/>
              </a:rPr>
              <a:t>Simuladores clássicos são usados (HPC).</a:t>
            </a:r>
          </a:p>
          <a:p>
            <a:pPr algn="l" marL="863596" indent="-431798" lvl="1">
              <a:lnSpc>
                <a:spcPts val="5599"/>
              </a:lnSpc>
              <a:buFont typeface="Arial"/>
              <a:buChar char="•"/>
            </a:pPr>
            <a:r>
              <a:rPr lang="en-US" sz="3999">
                <a:solidFill>
                  <a:srgbClr val="FFFFFF"/>
                </a:solidFill>
                <a:latin typeface="Canva Sans"/>
                <a:ea typeface="Canva Sans"/>
                <a:cs typeface="Canva Sans"/>
                <a:sym typeface="Canva Sans"/>
              </a:rPr>
              <a:t>Super-computadores sofrem com circuitos muitos grandes (principalmente em uso de memória, ex: 2</a:t>
            </a:r>
            <a:r>
              <a:rPr lang="en-US" sz="3999">
                <a:solidFill>
                  <a:srgbClr val="FFFFFF"/>
                </a:solidFill>
                <a:latin typeface="Canva Sans"/>
                <a:ea typeface="Canva Sans"/>
                <a:cs typeface="Canva Sans"/>
                <a:sym typeface="Canva Sans"/>
              </a:rPr>
              <a:t>40</a:t>
            </a:r>
            <a:r>
              <a:rPr lang="en-US" sz="3999">
                <a:solidFill>
                  <a:srgbClr val="FFFFFF"/>
                </a:solidFill>
                <a:latin typeface="Canva Sans"/>
                <a:ea typeface="Canva Sans"/>
                <a:cs typeface="Canva Sans"/>
                <a:sym typeface="Canva Sans"/>
              </a:rPr>
              <a:t> * 8 bytes</a:t>
            </a:r>
            <a:r>
              <a:rPr lang="en-US" sz="3999">
                <a:solidFill>
                  <a:srgbClr val="FFFFFF"/>
                </a:solidFill>
                <a:latin typeface="Canva Sans"/>
                <a:ea typeface="Canva Sans"/>
                <a:cs typeface="Canva Sans"/>
                <a:sym typeface="Canva Sans"/>
              </a:rPr>
              <a:t> = 8Tb</a:t>
            </a:r>
            <a:r>
              <a:rPr lang="en-US" sz="3999">
                <a:solidFill>
                  <a:srgbClr val="FFFFFF"/>
                </a:solidFill>
                <a:latin typeface="Canva Sans"/>
                <a:ea typeface="Canva Sans"/>
                <a:cs typeface="Canva Sans"/>
                <a:sym typeface="Canva Sans"/>
              </a:rPr>
              <a:t>).</a:t>
            </a:r>
          </a:p>
          <a:p>
            <a:pPr algn="l" marL="863596" indent="-431798" lvl="1">
              <a:lnSpc>
                <a:spcPts val="5599"/>
              </a:lnSpc>
              <a:buFont typeface="Arial"/>
              <a:buChar char="•"/>
            </a:pPr>
            <a:r>
              <a:rPr lang="en-US" sz="3999">
                <a:solidFill>
                  <a:srgbClr val="FFFFFF"/>
                </a:solidFill>
                <a:latin typeface="Canva Sans"/>
                <a:ea typeface="Canva Sans"/>
                <a:cs typeface="Canva Sans"/>
                <a:sym typeface="Canva Sans"/>
              </a:rPr>
              <a:t>Revisão de literatura.</a:t>
            </a:r>
          </a:p>
          <a:p>
            <a:pPr algn="l" marL="863596" indent="-431798" lvl="1">
              <a:lnSpc>
                <a:spcPts val="5599"/>
              </a:lnSpc>
              <a:buFont typeface="Arial"/>
              <a:buChar char="•"/>
            </a:pPr>
            <a:r>
              <a:rPr lang="en-US" sz="3999">
                <a:solidFill>
                  <a:srgbClr val="FFFFFF"/>
                </a:solidFill>
                <a:latin typeface="Canva Sans"/>
                <a:ea typeface="Canva Sans"/>
                <a:cs typeface="Canva Sans"/>
                <a:sym typeface="Canva Sans"/>
              </a:rPr>
              <a:t>Analisar a complexidade e o que poderia ser feito para aumentar a eficiência.</a:t>
            </a:r>
          </a:p>
          <a:p>
            <a:pPr algn="l" marL="863596" indent="-431798" lvl="1">
              <a:lnSpc>
                <a:spcPts val="5599"/>
              </a:lnSpc>
              <a:buFont typeface="Arial"/>
              <a:buChar char="•"/>
            </a:pPr>
            <a:r>
              <a:rPr lang="en-US" sz="3999">
                <a:solidFill>
                  <a:srgbClr val="FFFFFF"/>
                </a:solidFill>
                <a:latin typeface="Canva Sans"/>
                <a:ea typeface="Canva Sans"/>
                <a:cs typeface="Canva Sans"/>
                <a:sym typeface="Canva Sans"/>
              </a:rPr>
              <a:t>Descrever casos que TN seria melhor.</a:t>
            </a:r>
          </a:p>
        </p:txBody>
      </p:sp>
      <p:sp>
        <p:nvSpPr>
          <p:cNvPr name="TextBox 3" id="3"/>
          <p:cNvSpPr txBox="true"/>
          <p:nvPr/>
        </p:nvSpPr>
        <p:spPr>
          <a:xfrm rot="0">
            <a:off x="6103689" y="923925"/>
            <a:ext cx="6080621" cy="1009718"/>
          </a:xfrm>
          <a:prstGeom prst="rect">
            <a:avLst/>
          </a:prstGeom>
        </p:spPr>
        <p:txBody>
          <a:bodyPr anchor="t" rtlCol="false" tIns="0" lIns="0" bIns="0" rIns="0">
            <a:spAutoFit/>
          </a:bodyPr>
          <a:lstStyle/>
          <a:p>
            <a:pPr algn="l">
              <a:lnSpc>
                <a:spcPts val="8399"/>
              </a:lnSpc>
            </a:pPr>
            <a:r>
              <a:rPr lang="en-US" sz="5999">
                <a:solidFill>
                  <a:srgbClr val="FFFFFF"/>
                </a:solidFill>
                <a:latin typeface="Canva Sans"/>
                <a:ea typeface="Canva Sans"/>
                <a:cs typeface="Canva Sans"/>
                <a:sym typeface="Canva Sans"/>
              </a:rPr>
              <a:t>Por que e o que?</a:t>
            </a:r>
          </a:p>
        </p:txBody>
      </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000000">
                <a:alpha val="100000"/>
              </a:srgbClr>
            </a:gs>
            <a:gs pos="100000">
              <a:srgbClr val="3432C7">
                <a:alpha val="100000"/>
              </a:srgbClr>
            </a:gs>
          </a:gsLst>
          <a:lin ang="16200000"/>
        </a:gradFill>
      </p:bgPr>
    </p:bg>
    <p:spTree>
      <p:nvGrpSpPr>
        <p:cNvPr id="1" name=""/>
        <p:cNvGrpSpPr/>
        <p:nvPr/>
      </p:nvGrpSpPr>
      <p:grpSpPr>
        <a:xfrm>
          <a:off x="0" y="0"/>
          <a:ext cx="0" cy="0"/>
          <a:chOff x="0" y="0"/>
          <a:chExt cx="0" cy="0"/>
        </a:xfrm>
      </p:grpSpPr>
      <p:sp>
        <p:nvSpPr>
          <p:cNvPr name="TextBox 2" id="2"/>
          <p:cNvSpPr txBox="true"/>
          <p:nvPr/>
        </p:nvSpPr>
        <p:spPr>
          <a:xfrm rot="0">
            <a:off x="7053709" y="471454"/>
            <a:ext cx="4180582" cy="1009718"/>
          </a:xfrm>
          <a:prstGeom prst="rect">
            <a:avLst/>
          </a:prstGeom>
        </p:spPr>
        <p:txBody>
          <a:bodyPr anchor="t" rtlCol="false" tIns="0" lIns="0" bIns="0" rIns="0">
            <a:spAutoFit/>
          </a:bodyPr>
          <a:lstStyle/>
          <a:p>
            <a:pPr algn="l">
              <a:lnSpc>
                <a:spcPts val="8399"/>
              </a:lnSpc>
            </a:pPr>
            <a:r>
              <a:rPr lang="en-US" sz="5999">
                <a:solidFill>
                  <a:srgbClr val="FFFFFF"/>
                </a:solidFill>
                <a:latin typeface="Canva Sans"/>
                <a:ea typeface="Canva Sans"/>
                <a:cs typeface="Canva Sans"/>
                <a:sym typeface="Canva Sans"/>
              </a:rPr>
              <a:t>Bibliografia</a:t>
            </a:r>
          </a:p>
        </p:txBody>
      </p:sp>
      <p:sp>
        <p:nvSpPr>
          <p:cNvPr name="TextBox 3" id="3"/>
          <p:cNvSpPr txBox="true"/>
          <p:nvPr/>
        </p:nvSpPr>
        <p:spPr>
          <a:xfrm rot="0">
            <a:off x="514350" y="1639861"/>
            <a:ext cx="17259300" cy="7916376"/>
          </a:xfrm>
          <a:prstGeom prst="rect">
            <a:avLst/>
          </a:prstGeom>
        </p:spPr>
        <p:txBody>
          <a:bodyPr anchor="t" rtlCol="false" tIns="0" lIns="0" bIns="0" rIns="0">
            <a:spAutoFit/>
          </a:bodyPr>
          <a:lstStyle/>
          <a:p>
            <a:pPr algn="l">
              <a:lnSpc>
                <a:spcPts val="1988"/>
              </a:lnSpc>
            </a:pPr>
            <a:r>
              <a:rPr lang="en-US" sz="1400">
                <a:solidFill>
                  <a:srgbClr val="FFFFFF"/>
                </a:solidFill>
                <a:latin typeface="Canva Sans"/>
                <a:ea typeface="Canva Sans"/>
                <a:cs typeface="Canva Sans"/>
                <a:sym typeface="Canva Sans"/>
              </a:rPr>
              <a:t>ALEKSANDR BEREZUTSKII et al. Tensor networks for quantum computing. Nature Reviews Physics, 30 jul. 2025.</a:t>
            </a:r>
          </a:p>
          <a:p>
            <a:pPr algn="l">
              <a:lnSpc>
                <a:spcPts val="1988"/>
              </a:lnSpc>
            </a:pPr>
            <a:r>
              <a:rPr lang="en-US" sz="1400">
                <a:solidFill>
                  <a:srgbClr val="FFFFFF"/>
                </a:solidFill>
                <a:latin typeface="Canva Sans"/>
                <a:ea typeface="Canva Sans"/>
                <a:cs typeface="Canva Sans"/>
                <a:sym typeface="Canva Sans"/>
              </a:rPr>
              <a:t>BIAMONTE, J.; BERGHOLM, V. Tensor Networks in a Nutshell. arXiv (Cornell University), 1 jan. 2017.</a:t>
            </a:r>
          </a:p>
          <a:p>
            <a:pPr algn="l">
              <a:lnSpc>
                <a:spcPts val="1988"/>
              </a:lnSpc>
            </a:pPr>
            <a:r>
              <a:rPr lang="en-US" sz="1400">
                <a:solidFill>
                  <a:srgbClr val="FFFFFF"/>
                </a:solidFill>
                <a:latin typeface="Canva Sans"/>
                <a:ea typeface="Canva Sans"/>
                <a:cs typeface="Canva Sans"/>
                <a:sym typeface="Canva Sans"/>
              </a:rPr>
              <a:t>BRIDGEMAN, J. C.; CHUBB, C. T. Hand-waving and interpretive dance: an introductory course on tensor networks. v. 50, n. 22, p. 223001–223001, 9 mar. 2016.</a:t>
            </a:r>
          </a:p>
          <a:p>
            <a:pPr algn="l">
              <a:lnSpc>
                <a:spcPts val="1988"/>
              </a:lnSpc>
            </a:pPr>
            <a:r>
              <a:rPr lang="en-US" sz="1400">
                <a:solidFill>
                  <a:srgbClr val="FFFFFF"/>
                </a:solidFill>
                <a:latin typeface="Canva Sans"/>
                <a:ea typeface="Canva Sans"/>
                <a:cs typeface="Canva Sans"/>
                <a:sym typeface="Canva Sans"/>
              </a:rPr>
              <a:t>CHUNDUR</a:t>
            </a:r>
            <a:r>
              <a:rPr lang="en-US" sz="1400">
                <a:solidFill>
                  <a:srgbClr val="FFFFFF"/>
                </a:solidFill>
                <a:latin typeface="Canva Sans"/>
                <a:ea typeface="Canva Sans"/>
                <a:cs typeface="Canva Sans"/>
                <a:sym typeface="Canva Sans"/>
              </a:rPr>
              <a:t>Y, S. et al. A PEPS Plugin for TNQVM. 2023 IEEE International Conference on Quantum Computing and Engineering (QCE), p. 383–384, 17 set. 2023.</a:t>
            </a:r>
          </a:p>
          <a:p>
            <a:pPr algn="l">
              <a:lnSpc>
                <a:spcPts val="1988"/>
              </a:lnSpc>
            </a:pPr>
            <a:r>
              <a:rPr lang="en-US" sz="1400">
                <a:solidFill>
                  <a:srgbClr val="FFFFFF"/>
                </a:solidFill>
                <a:latin typeface="Canva Sans"/>
                <a:ea typeface="Canva Sans"/>
                <a:cs typeface="Canva Sans"/>
                <a:sym typeface="Canva Sans"/>
              </a:rPr>
              <a:t>CHUNDURY, S. et al. Quantum Simulators and Applications on Quantum Framework. 2025 IEEE International Conference on Quantum Computing and Engineering (QCE), p. 522–523, 30 ago. 2025.</a:t>
            </a:r>
          </a:p>
          <a:p>
            <a:pPr algn="l">
              <a:lnSpc>
                <a:spcPts val="1988"/>
              </a:lnSpc>
            </a:pPr>
            <a:r>
              <a:rPr lang="en-US" sz="1400">
                <a:solidFill>
                  <a:srgbClr val="FFFFFF"/>
                </a:solidFill>
                <a:latin typeface="Canva Sans"/>
                <a:ea typeface="Canva Sans"/>
                <a:cs typeface="Canva Sans"/>
                <a:sym typeface="Canva Sans"/>
              </a:rPr>
              <a:t>COLLURA, M. et al. Tensor Network Techniques for Quantum Computation. dez. 2024.</a:t>
            </a:r>
          </a:p>
          <a:p>
            <a:pPr algn="l">
              <a:lnSpc>
                <a:spcPts val="1988"/>
              </a:lnSpc>
            </a:pPr>
            <a:r>
              <a:rPr lang="en-US" sz="1400">
                <a:solidFill>
                  <a:srgbClr val="FFFFFF"/>
                </a:solidFill>
                <a:latin typeface="Canva Sans"/>
                <a:ea typeface="Canva Sans"/>
                <a:cs typeface="Canva Sans"/>
                <a:sym typeface="Canva Sans"/>
              </a:rPr>
              <a:t>DE GIROLAMO, A. et al. Dynamical cluster-based strategy for improving tensor network algorithms in quantum circuit simulations. Physical Review Research, v. 7, n. 4, 17 nov. 2025.</a:t>
            </a:r>
          </a:p>
          <a:p>
            <a:pPr algn="l">
              <a:lnSpc>
                <a:spcPts val="1988"/>
              </a:lnSpc>
            </a:pPr>
            <a:r>
              <a:rPr lang="en-US" sz="1400">
                <a:solidFill>
                  <a:srgbClr val="FFFFFF"/>
                </a:solidFill>
                <a:latin typeface="Canva Sans"/>
                <a:ea typeface="Canva Sans"/>
                <a:cs typeface="Canva Sans"/>
                <a:sym typeface="Canva Sans"/>
              </a:rPr>
              <a:t>DUBEY, A.; ZEYBEK, Z.; SCHMELCHER, P. Simulating quantum circuits with tree tensor networks using density-matrix renormalization group algorithm. Physical Review B, v. 112, n. 10, 15 set. 2025.</a:t>
            </a:r>
          </a:p>
          <a:p>
            <a:pPr algn="l">
              <a:lnSpc>
                <a:spcPts val="1988"/>
              </a:lnSpc>
            </a:pPr>
            <a:r>
              <a:rPr lang="en-US" sz="1400">
                <a:solidFill>
                  <a:srgbClr val="FFFFFF"/>
                </a:solidFill>
                <a:latin typeface="Canva Sans"/>
                <a:ea typeface="Canva Sans"/>
                <a:cs typeface="Canva Sans"/>
                <a:sym typeface="Canva Sans"/>
              </a:rPr>
              <a:t>EISERT, J. et al. Quantum circuit simulation with a local time-dependent variational principle. 5 dez. 2025.</a:t>
            </a:r>
          </a:p>
          <a:p>
            <a:pPr algn="l">
              <a:lnSpc>
                <a:spcPts val="1988"/>
              </a:lnSpc>
            </a:pPr>
            <a:r>
              <a:rPr lang="en-US" sz="1400">
                <a:solidFill>
                  <a:srgbClr val="FFFFFF"/>
                </a:solidFill>
                <a:latin typeface="Canva Sans"/>
                <a:ea typeface="Canva Sans"/>
                <a:cs typeface="Canva Sans"/>
                <a:sym typeface="Canva Sans"/>
              </a:rPr>
              <a:t>ELLERBROCK, R. et al. QuTree: A tree tensor network package. The Journal of Chemical Physics, v. 160, n. 11, 18 mar. 2024.</a:t>
            </a:r>
          </a:p>
          <a:p>
            <a:pPr algn="l">
              <a:lnSpc>
                <a:spcPts val="1988"/>
              </a:lnSpc>
            </a:pPr>
            <a:r>
              <a:rPr lang="en-US" sz="1400">
                <a:solidFill>
                  <a:srgbClr val="FFFFFF"/>
                </a:solidFill>
                <a:latin typeface="Canva Sans"/>
                <a:ea typeface="Canva Sans"/>
                <a:cs typeface="Canva Sans"/>
                <a:sym typeface="Canva Sans"/>
              </a:rPr>
              <a:t>GRAY, J.; KOURTIS, S. Hyper-optimized tensor network contraction. Quantum, v. 5, p. 410, 15 mar. 2021.</a:t>
            </a:r>
          </a:p>
          <a:p>
            <a:pPr algn="l">
              <a:lnSpc>
                <a:spcPts val="1988"/>
              </a:lnSpc>
            </a:pPr>
            <a:r>
              <a:rPr lang="en-US" sz="1400">
                <a:solidFill>
                  <a:srgbClr val="FFFFFF"/>
                </a:solidFill>
                <a:latin typeface="Canva Sans"/>
                <a:ea typeface="Canva Sans"/>
                <a:cs typeface="Canva Sans"/>
                <a:sym typeface="Canva Sans"/>
              </a:rPr>
              <a:t>HARADA, H. et al. Density matrix representation of hybrid tensor networks for noisy quantum devices. Quantum, v. 9, p. 1823, 7 ago. 2025.</a:t>
            </a:r>
          </a:p>
          <a:p>
            <a:pPr algn="l">
              <a:lnSpc>
                <a:spcPts val="1988"/>
              </a:lnSpc>
            </a:pPr>
            <a:r>
              <a:rPr lang="en-US" sz="1400">
                <a:solidFill>
                  <a:srgbClr val="FFFFFF"/>
                </a:solidFill>
                <a:latin typeface="Canva Sans"/>
                <a:ea typeface="Canva Sans"/>
                <a:cs typeface="Canva Sans"/>
                <a:sym typeface="Canva Sans"/>
              </a:rPr>
              <a:t>HOYT, A. C. et al. Implementation of Tensor Network Simulation TN-Sim under NWQ-Sim. 2025 IEEE High Performance Extreme Computing Conference (HPEC), p. 1–7, 15 set. 2025.</a:t>
            </a:r>
          </a:p>
          <a:p>
            <a:pPr algn="l">
              <a:lnSpc>
                <a:spcPts val="1988"/>
              </a:lnSpc>
            </a:pPr>
            <a:r>
              <a:rPr lang="en-US" sz="1400">
                <a:solidFill>
                  <a:srgbClr val="FFFFFF"/>
                </a:solidFill>
                <a:latin typeface="Canva Sans"/>
                <a:ea typeface="Canva Sans"/>
                <a:cs typeface="Canva Sans"/>
                <a:sym typeface="Canva Sans"/>
              </a:rPr>
              <a:t>IBRAHIM, C. et al. Constructing Optimal Contraction Trees for Tensor Network Quantum Circuit Simulation. 2022 IEEE High Performance Extreme Computing Conference (HPEC), p. 1–8, 19 set. 2022.</a:t>
            </a:r>
          </a:p>
          <a:p>
            <a:pPr algn="l">
              <a:lnSpc>
                <a:spcPts val="1988"/>
              </a:lnSpc>
            </a:pPr>
            <a:r>
              <a:rPr lang="en-US" sz="1400">
                <a:solidFill>
                  <a:srgbClr val="FFFFFF"/>
                </a:solidFill>
                <a:latin typeface="Canva Sans"/>
                <a:ea typeface="Canva Sans"/>
                <a:cs typeface="Canva Sans"/>
                <a:sym typeface="Canva Sans"/>
              </a:rPr>
              <a:t>LI, W. et al. Optimal tree tensor network operators for tensor network simulations: Applications to open quantum systems. The Journal of Chemical Physics, v. 161, n. 5, 6 ago. 2024.</a:t>
            </a:r>
          </a:p>
          <a:p>
            <a:pPr algn="l">
              <a:lnSpc>
                <a:spcPts val="1988"/>
              </a:lnSpc>
            </a:pPr>
            <a:r>
              <a:rPr lang="en-US" sz="1400">
                <a:solidFill>
                  <a:srgbClr val="FFFFFF"/>
                </a:solidFill>
                <a:latin typeface="Canva Sans"/>
                <a:ea typeface="Canva Sans"/>
                <a:cs typeface="Canva Sans"/>
                <a:sym typeface="Canva Sans"/>
              </a:rPr>
              <a:t>LINDOY, L. P. et al. pyTTN: An open-source toolbox for open and closed system quantum dynamics simulations using tree tensor networks. The Journal of Chemical Physics, v. 163, n. 20, 24 nov. 2025.</a:t>
            </a:r>
          </a:p>
          <a:p>
            <a:pPr algn="l">
              <a:lnSpc>
                <a:spcPts val="1988"/>
              </a:lnSpc>
            </a:pPr>
            <a:r>
              <a:rPr lang="en-US" sz="1400">
                <a:solidFill>
                  <a:srgbClr val="FFFFFF"/>
                </a:solidFill>
                <a:latin typeface="Canva Sans"/>
                <a:ea typeface="Canva Sans"/>
                <a:cs typeface="Canva Sans"/>
                <a:sym typeface="Canva Sans"/>
              </a:rPr>
              <a:t>LUCHNIKOV, ILIA A et al. Large-scale quantum annealing simulation with tensor networks and belief propagation. arXiv (Cornell University), 18 set. 2024.</a:t>
            </a:r>
          </a:p>
          <a:p>
            <a:pPr algn="l">
              <a:lnSpc>
                <a:spcPts val="1988"/>
              </a:lnSpc>
            </a:pPr>
            <a:r>
              <a:rPr lang="en-US" sz="1400">
                <a:solidFill>
                  <a:srgbClr val="FFFFFF"/>
                </a:solidFill>
                <a:latin typeface="Canva Sans"/>
                <a:ea typeface="Canva Sans"/>
                <a:cs typeface="Canva Sans"/>
                <a:sym typeface="Canva Sans"/>
              </a:rPr>
              <a:t>LYAKH, D. I. et al. ExaTN: Scalable GPU-Accelerated High-Performance Processing of General Tensor Networks at Exascale. Frontiers in Applied Mathematics and Statistics, v. 8, 6 jul. 2022.</a:t>
            </a:r>
          </a:p>
          <a:p>
            <a:pPr algn="l">
              <a:lnSpc>
                <a:spcPts val="1988"/>
              </a:lnSpc>
            </a:pPr>
            <a:r>
              <a:rPr lang="en-US" sz="1400">
                <a:solidFill>
                  <a:srgbClr val="FFFFFF"/>
                </a:solidFill>
                <a:latin typeface="Canva Sans"/>
                <a:ea typeface="Canva Sans"/>
                <a:cs typeface="Canva Sans"/>
                <a:sym typeface="Canva Sans"/>
              </a:rPr>
              <a:t>MÜLLER, A.; AYRAL, T.; BERTRAND, C. Enabling large-depth simulation of noisy quantum circuits with positive tensor networks. Arxiv (Cornell University), 29 fev. 2024.</a:t>
            </a:r>
          </a:p>
          <a:p>
            <a:pPr algn="l">
              <a:lnSpc>
                <a:spcPts val="1988"/>
              </a:lnSpc>
            </a:pPr>
            <a:r>
              <a:rPr lang="en-US" sz="1400">
                <a:solidFill>
                  <a:srgbClr val="FFFFFF"/>
                </a:solidFill>
                <a:latin typeface="Canva Sans"/>
                <a:ea typeface="Canva Sans"/>
                <a:cs typeface="Canva Sans"/>
                <a:sym typeface="Canva Sans"/>
              </a:rPr>
              <a:t>N. MILLER, B. et al. Approximate simulation of complex quantum circuits using sparse tensors. Arxiv (Cornell University), 3 fev. 2026.</a:t>
            </a:r>
          </a:p>
          <a:p>
            <a:pPr algn="l">
              <a:lnSpc>
                <a:spcPts val="1988"/>
              </a:lnSpc>
            </a:pPr>
            <a:r>
              <a:rPr lang="en-US" sz="1400">
                <a:solidFill>
                  <a:srgbClr val="FFFFFF"/>
                </a:solidFill>
                <a:latin typeface="Canva Sans"/>
                <a:ea typeface="Canva Sans"/>
                <a:cs typeface="Canva Sans"/>
                <a:sym typeface="Canva Sans"/>
              </a:rPr>
              <a:t>NAGAI, R.; TOMONO, T. Tensor Network-Based Continuous Variable Quantum Circuit Optimization for Preparation of GKP State. 2023 IEEE International Conference on Quantum Computing and Engineering (QCE), p. 385–386, 17 set. 2023.</a:t>
            </a:r>
          </a:p>
          <a:p>
            <a:pPr algn="l">
              <a:lnSpc>
                <a:spcPts val="1988"/>
              </a:lnSpc>
            </a:pPr>
            <a:r>
              <a:rPr lang="en-US" sz="1400">
                <a:solidFill>
                  <a:srgbClr val="FFFFFF"/>
                </a:solidFill>
                <a:latin typeface="Canva Sans"/>
                <a:ea typeface="Canva Sans"/>
                <a:cs typeface="Canva Sans"/>
                <a:sym typeface="Canva Sans"/>
              </a:rPr>
              <a:t>NGUYEN, T. et al. Tensor Network Quantum Virtual Machine for Simulating Quantum Circuits at Exascale. ACM Transactions on Quantum Computing, v. 4, n. 1, p. 1–21, 21 out. 2022.</a:t>
            </a:r>
          </a:p>
          <a:p>
            <a:pPr algn="l">
              <a:lnSpc>
                <a:spcPts val="1988"/>
              </a:lnSpc>
            </a:pPr>
            <a:r>
              <a:rPr lang="en-US" sz="1400">
                <a:solidFill>
                  <a:srgbClr val="FFFFFF"/>
                </a:solidFill>
                <a:latin typeface="Canva Sans"/>
                <a:ea typeface="Canva Sans"/>
                <a:cs typeface="Canva Sans"/>
                <a:sym typeface="Canva Sans"/>
              </a:rPr>
              <a:t>PEREIRA, D.; BANCHI, L. Efficient tensor-network simulations of weakly-measured quantum circuits. Arxiv (Cornell University), 8 out. 2025.</a:t>
            </a:r>
          </a:p>
          <a:p>
            <a:pPr algn="l">
              <a:lnSpc>
                <a:spcPts val="1988"/>
              </a:lnSpc>
            </a:pPr>
            <a:r>
              <a:rPr lang="en-US" sz="1400">
                <a:solidFill>
                  <a:srgbClr val="FFFFFF"/>
                </a:solidFill>
                <a:latin typeface="Canva Sans"/>
                <a:ea typeface="Canva Sans"/>
                <a:cs typeface="Canva Sans"/>
                <a:sym typeface="Canva Sans"/>
              </a:rPr>
              <a:t>SEITZ, P. et al. Simulating quantum circuits using tree tensor networks. Quantum, v. 7, p. 964, 30 mar. 2023.</a:t>
            </a:r>
          </a:p>
          <a:p>
            <a:pPr algn="l">
              <a:lnSpc>
                <a:spcPts val="1988"/>
              </a:lnSpc>
            </a:pPr>
            <a:r>
              <a:rPr lang="en-US" sz="1400">
                <a:solidFill>
                  <a:srgbClr val="FFFFFF"/>
                </a:solidFill>
                <a:latin typeface="Canva Sans"/>
                <a:ea typeface="Canva Sans"/>
                <a:cs typeface="Canva Sans"/>
                <a:sym typeface="Canva Sans"/>
              </a:rPr>
              <a:t>STOIAN, M.; MILBRADT, R. M.; MENDL, C. B. On the Optimal Linear Contraction Order of Tree Tensor Networks, and Beyond. SIAM Journal on Scientific Computing, v. 46, n. 5, p. B647–B668, 8 out. 2024.</a:t>
            </a:r>
          </a:p>
          <a:p>
            <a:pPr algn="l">
              <a:lnSpc>
                <a:spcPts val="1988"/>
              </a:lnSpc>
            </a:pPr>
            <a:r>
              <a:rPr lang="en-US" sz="1400">
                <a:solidFill>
                  <a:srgbClr val="FFFFFF"/>
                </a:solidFill>
                <a:latin typeface="Canva Sans"/>
                <a:ea typeface="Canva Sans"/>
                <a:cs typeface="Canva Sans"/>
                <a:sym typeface="Canva Sans"/>
              </a:rPr>
              <a:t>SU, X.; MAO, Z. Quantum computing simulation acceleration and error mitigation method and system based on tensor network topology optimization. Fourth International Conference on Algorithms, Network, and Communication Technology (ICANCT 2025), p. 6, 17 fev. 2026.</a:t>
            </a:r>
          </a:p>
          <a:p>
            <a:pPr algn="l">
              <a:lnSpc>
                <a:spcPts val="1988"/>
              </a:lnSpc>
            </a:pPr>
            <a:r>
              <a:rPr lang="en-US" sz="1400">
                <a:solidFill>
                  <a:srgbClr val="FFFFFF"/>
                </a:solidFill>
                <a:latin typeface="Canva Sans"/>
                <a:ea typeface="Canva Sans"/>
                <a:cs typeface="Canva Sans"/>
                <a:sym typeface="Canva Sans"/>
              </a:rPr>
              <a:t>SULZ, D. et al. Numerical simulation of long-range open quantum many-body dynamics with tree tensor networks. Physical Review A, v. 109, n. 2, 13 fev. 2024.</a:t>
            </a:r>
          </a:p>
          <a:p>
            <a:pPr algn="l">
              <a:lnSpc>
                <a:spcPts val="1988"/>
              </a:lnSpc>
            </a:pPr>
            <a:r>
              <a:rPr lang="en-US" sz="1400">
                <a:solidFill>
                  <a:srgbClr val="FFFFFF"/>
                </a:solidFill>
                <a:latin typeface="Canva Sans"/>
                <a:ea typeface="Canva Sans"/>
                <a:cs typeface="Canva Sans"/>
                <a:sym typeface="Canva Sans"/>
              </a:rPr>
              <a:t>TORNOW, N.; B. MENDL, C.; BHATOTIA, P. Quantum-Classical Computing via Tensor Networks. Arxiv (Cornell University), 19 out. 2024.</a:t>
            </a:r>
          </a:p>
          <a:p>
            <a:pPr algn="l">
              <a:lnSpc>
                <a:spcPts val="1988"/>
              </a:lnSpc>
            </a:pPr>
            <a:r>
              <a:rPr lang="en-US" sz="1400">
                <a:solidFill>
                  <a:srgbClr val="FFFFFF"/>
                </a:solidFill>
                <a:latin typeface="Canva Sans"/>
                <a:ea typeface="Canva Sans"/>
                <a:cs typeface="Canva Sans"/>
                <a:sym typeface="Canva Sans"/>
              </a:rPr>
              <a:t>VINCENT, T. et al. Jet: Fast quantum circuit simulations with parallel task-based tensor-network contraction. Quantum, v. 6, p. 709–709, 9 maio 2022.</a:t>
            </a:r>
          </a:p>
          <a:p>
            <a:pPr algn="l">
              <a:lnSpc>
                <a:spcPts val="1988"/>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DAHDFCacy6g</dc:identifier>
  <dcterms:modified xsi:type="dcterms:W3CDTF">2011-08-01T06:04:30Z</dcterms:modified>
  <cp:revision>1</cp:revision>
  <dc:title>tema seminário</dc:title>
</cp:coreProperties>
</file>